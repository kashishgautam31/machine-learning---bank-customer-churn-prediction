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70" r:id="rId3"/>
    <p:sldId id="268" r:id="rId4"/>
    <p:sldId id="265" r:id="rId5"/>
    <p:sldId id="259" r:id="rId6"/>
    <p:sldId id="260" r:id="rId7"/>
    <p:sldId id="261" r:id="rId8"/>
    <p:sldId id="262" r:id="rId9"/>
    <p:sldId id="263" r:id="rId10"/>
    <p:sldId id="264" r:id="rId11"/>
    <p:sldId id="267" r:id="rId12"/>
    <p:sldId id="269"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356"/>
    <a:srgbClr val="9CA3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03C101-371A-6AEB-380C-D84C382AAB3C}" v="2" dt="2026-03-11T09:39:36.4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291" y="8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Singh" userId="S::deepika@edunetfoundation.org::f0f56065-e271-45de-8d64-7e8bb4020470" providerId="AD" clId="Web-{A2203275-9AEB-CC7C-CD42-D798654E329D}"/>
    <pc:docChg chg="modSld">
      <pc:chgData name="Deepika Singh" userId="S::deepika@edunetfoundation.org::f0f56065-e271-45de-8d64-7e8bb4020470" providerId="AD" clId="Web-{A2203275-9AEB-CC7C-CD42-D798654E329D}" dt="2026-02-13T04:16:06.674" v="2" actId="1076"/>
      <pc:docMkLst>
        <pc:docMk/>
      </pc:docMkLst>
      <pc:sldChg chg="addSp delSp modSp">
        <pc:chgData name="Deepika Singh" userId="S::deepika@edunetfoundation.org::f0f56065-e271-45de-8d64-7e8bb4020470" providerId="AD" clId="Web-{A2203275-9AEB-CC7C-CD42-D798654E329D}" dt="2026-02-13T04:16:06.674" v="2" actId="1076"/>
        <pc:sldMkLst>
          <pc:docMk/>
          <pc:sldMk cId="2883350127" sldId="270"/>
        </pc:sldMkLst>
        <pc:graphicFrameChg chg="add mod">
          <ac:chgData name="Deepika Singh" userId="S::deepika@edunetfoundation.org::f0f56065-e271-45de-8d64-7e8bb4020470" providerId="AD" clId="Web-{A2203275-9AEB-CC7C-CD42-D798654E329D}" dt="2026-02-13T04:16:06.674" v="2" actId="1076"/>
          <ac:graphicFrameMkLst>
            <pc:docMk/>
            <pc:sldMk cId="2883350127" sldId="270"/>
            <ac:graphicFrameMk id="30" creationId="{064916C5-F9EC-7006-0A96-A1BB04AC3207}"/>
          </ac:graphicFrameMkLst>
        </pc:graphicFrameChg>
      </pc:sldChg>
    </pc:docChg>
  </pc:docChgLst>
  <pc:docChgLst>
    <pc:chgData name="Guest User" userId="S::urn:spo:tenantanon#ad06ef22-d6dc-4a55-b4c1-c3a158f5f147::" providerId="AD" clId="Web-{298D95F4-1281-2901-3E4D-F203D5EEF89D}"/>
    <pc:docChg chg="modSld">
      <pc:chgData name="Guest User" userId="S::urn:spo:tenantanon#ad06ef22-d6dc-4a55-b4c1-c3a158f5f147::" providerId="AD" clId="Web-{298D95F4-1281-2901-3E4D-F203D5EEF89D}" dt="2026-02-24T06:06:18.081" v="17" actId="20577"/>
      <pc:docMkLst>
        <pc:docMk/>
      </pc:docMkLst>
      <pc:sldChg chg="modSp">
        <pc:chgData name="Guest User" userId="S::urn:spo:tenantanon#ad06ef22-d6dc-4a55-b4c1-c3a158f5f147::" providerId="AD" clId="Web-{298D95F4-1281-2901-3E4D-F203D5EEF89D}" dt="2026-02-24T05:59:15.426" v="2" actId="20577"/>
        <pc:sldMkLst>
          <pc:docMk/>
          <pc:sldMk cId="1023676988" sldId="258"/>
        </pc:sldMkLst>
        <pc:spChg chg="mod">
          <ac:chgData name="Guest User" userId="S::urn:spo:tenantanon#ad06ef22-d6dc-4a55-b4c1-c3a158f5f147::" providerId="AD" clId="Web-{298D95F4-1281-2901-3E4D-F203D5EEF89D}" dt="2026-02-24T05:55:08.404" v="0" actId="20577"/>
          <ac:spMkLst>
            <pc:docMk/>
            <pc:sldMk cId="1023676988" sldId="258"/>
            <ac:spMk id="2" creationId="{01B94EB9-4981-4B64-BA7E-735F6CAD4324}"/>
          </ac:spMkLst>
        </pc:spChg>
        <pc:spChg chg="mod">
          <ac:chgData name="Guest User" userId="S::urn:spo:tenantanon#ad06ef22-d6dc-4a55-b4c1-c3a158f5f147::" providerId="AD" clId="Web-{298D95F4-1281-2901-3E4D-F203D5EEF89D}" dt="2026-02-24T05:59:15.426" v="2" actId="20577"/>
          <ac:spMkLst>
            <pc:docMk/>
            <pc:sldMk cId="1023676988" sldId="258"/>
            <ac:spMk id="3" creationId="{2473D968-550A-45A2-B636-4D6F7BFB4421}"/>
          </ac:spMkLst>
        </pc:spChg>
      </pc:sldChg>
      <pc:sldChg chg="modSp">
        <pc:chgData name="Guest User" userId="S::urn:spo:tenantanon#ad06ef22-d6dc-4a55-b4c1-c3a158f5f147::" providerId="AD" clId="Web-{298D95F4-1281-2901-3E4D-F203D5EEF89D}" dt="2026-02-24T05:59:22.223" v="3" actId="20577"/>
        <pc:sldMkLst>
          <pc:docMk/>
          <pc:sldMk cId="1741187183" sldId="259"/>
        </pc:sldMkLst>
        <pc:spChg chg="mod">
          <ac:chgData name="Guest User" userId="S::urn:spo:tenantanon#ad06ef22-d6dc-4a55-b4c1-c3a158f5f147::" providerId="AD" clId="Web-{298D95F4-1281-2901-3E4D-F203D5EEF89D}" dt="2026-02-24T05:59:22.223" v="3" actId="20577"/>
          <ac:spMkLst>
            <pc:docMk/>
            <pc:sldMk cId="1741187183" sldId="259"/>
            <ac:spMk id="3" creationId="{C46ED790-B911-4363-9E4B-39B6B5FCE59E}"/>
          </ac:spMkLst>
        </pc:spChg>
      </pc:sldChg>
      <pc:sldChg chg="modSp">
        <pc:chgData name="Guest User" userId="S::urn:spo:tenantanon#ad06ef22-d6dc-4a55-b4c1-c3a158f5f147::" providerId="AD" clId="Web-{298D95F4-1281-2901-3E4D-F203D5EEF89D}" dt="2026-02-24T05:59:31.770" v="4" actId="20577"/>
        <pc:sldMkLst>
          <pc:docMk/>
          <pc:sldMk cId="308195611" sldId="260"/>
        </pc:sldMkLst>
        <pc:spChg chg="mod">
          <ac:chgData name="Guest User" userId="S::urn:spo:tenantanon#ad06ef22-d6dc-4a55-b4c1-c3a158f5f147::" providerId="AD" clId="Web-{298D95F4-1281-2901-3E4D-F203D5EEF89D}" dt="2026-02-24T05:59:31.770" v="4" actId="20577"/>
          <ac:spMkLst>
            <pc:docMk/>
            <pc:sldMk cId="308195611" sldId="260"/>
            <ac:spMk id="3" creationId="{6E77542C-676C-4616-8042-1D07436B8F46}"/>
          </ac:spMkLst>
        </pc:spChg>
      </pc:sldChg>
      <pc:sldChg chg="modSp">
        <pc:chgData name="Guest User" userId="S::urn:spo:tenantanon#ad06ef22-d6dc-4a55-b4c1-c3a158f5f147::" providerId="AD" clId="Web-{298D95F4-1281-2901-3E4D-F203D5EEF89D}" dt="2026-02-24T05:59:36.582" v="5" actId="20577"/>
        <pc:sldMkLst>
          <pc:docMk/>
          <pc:sldMk cId="496619649" sldId="261"/>
        </pc:sldMkLst>
        <pc:spChg chg="mod">
          <ac:chgData name="Guest User" userId="S::urn:spo:tenantanon#ad06ef22-d6dc-4a55-b4c1-c3a158f5f147::" providerId="AD" clId="Web-{298D95F4-1281-2901-3E4D-F203D5EEF89D}" dt="2026-02-24T05:59:36.582" v="5" actId="20577"/>
          <ac:spMkLst>
            <pc:docMk/>
            <pc:sldMk cId="496619649" sldId="261"/>
            <ac:spMk id="3" creationId="{D937833B-3907-4B83-9F77-D0F494B71546}"/>
          </ac:spMkLst>
        </pc:spChg>
      </pc:sldChg>
      <pc:sldChg chg="modSp">
        <pc:chgData name="Guest User" userId="S::urn:spo:tenantanon#ad06ef22-d6dc-4a55-b4c1-c3a158f5f147::" providerId="AD" clId="Web-{298D95F4-1281-2901-3E4D-F203D5EEF89D}" dt="2026-02-24T05:59:41.410" v="6" actId="20577"/>
        <pc:sldMkLst>
          <pc:docMk/>
          <pc:sldMk cId="3463141070" sldId="262"/>
        </pc:sldMkLst>
        <pc:spChg chg="mod">
          <ac:chgData name="Guest User" userId="S::urn:spo:tenantanon#ad06ef22-d6dc-4a55-b4c1-c3a158f5f147::" providerId="AD" clId="Web-{298D95F4-1281-2901-3E4D-F203D5EEF89D}" dt="2026-02-24T05:59:41.410" v="6" actId="20577"/>
          <ac:spMkLst>
            <pc:docMk/>
            <pc:sldMk cId="3463141070" sldId="262"/>
            <ac:spMk id="3" creationId="{9644AC4F-2932-4F44-A84F-2F39667FE8D6}"/>
          </ac:spMkLst>
        </pc:spChg>
      </pc:sldChg>
      <pc:sldChg chg="modSp">
        <pc:chgData name="Guest User" userId="S::urn:spo:tenantanon#ad06ef22-d6dc-4a55-b4c1-c3a158f5f147::" providerId="AD" clId="Web-{298D95F4-1281-2901-3E4D-F203D5EEF89D}" dt="2026-02-24T05:59:56.036" v="7" actId="20577"/>
        <pc:sldMkLst>
          <pc:docMk/>
          <pc:sldMk cId="3130655203" sldId="263"/>
        </pc:sldMkLst>
        <pc:spChg chg="mod">
          <ac:chgData name="Guest User" userId="S::urn:spo:tenantanon#ad06ef22-d6dc-4a55-b4c1-c3a158f5f147::" providerId="AD" clId="Web-{298D95F4-1281-2901-3E4D-F203D5EEF89D}" dt="2026-02-24T05:59:56.036" v="7" actId="20577"/>
          <ac:spMkLst>
            <pc:docMk/>
            <pc:sldMk cId="3130655203" sldId="263"/>
            <ac:spMk id="3" creationId="{FF997BAE-B1B3-43F5-817C-987B4C2A3BFF}"/>
          </ac:spMkLst>
        </pc:spChg>
      </pc:sldChg>
      <pc:sldChg chg="modSp">
        <pc:chgData name="Guest User" userId="S::urn:spo:tenantanon#ad06ef22-d6dc-4a55-b4c1-c3a158f5f147::" providerId="AD" clId="Web-{298D95F4-1281-2901-3E4D-F203D5EEF89D}" dt="2026-02-24T06:00:01.192" v="8" actId="20577"/>
        <pc:sldMkLst>
          <pc:docMk/>
          <pc:sldMk cId="424759971" sldId="264"/>
        </pc:sldMkLst>
        <pc:spChg chg="mod">
          <ac:chgData name="Guest User" userId="S::urn:spo:tenantanon#ad06ef22-d6dc-4a55-b4c1-c3a158f5f147::" providerId="AD" clId="Web-{298D95F4-1281-2901-3E4D-F203D5EEF89D}" dt="2026-02-24T06:00:01.192" v="8" actId="20577"/>
          <ac:spMkLst>
            <pc:docMk/>
            <pc:sldMk cId="424759971" sldId="264"/>
            <ac:spMk id="3" creationId="{B2658A8F-6943-4E76-8967-55B21E8D3429}"/>
          </ac:spMkLst>
        </pc:spChg>
      </pc:sldChg>
      <pc:sldChg chg="modSp">
        <pc:chgData name="Guest User" userId="S::urn:spo:tenantanon#ad06ef22-d6dc-4a55-b4c1-c3a158f5f147::" providerId="AD" clId="Web-{298D95F4-1281-2901-3E4D-F203D5EEF89D}" dt="2026-02-24T06:06:18.081" v="17" actId="20577"/>
        <pc:sldMkLst>
          <pc:docMk/>
          <pc:sldMk cId="3784711537" sldId="265"/>
        </pc:sldMkLst>
        <pc:spChg chg="mod">
          <ac:chgData name="Guest User" userId="S::urn:spo:tenantanon#ad06ef22-d6dc-4a55-b4c1-c3a158f5f147::" providerId="AD" clId="Web-{298D95F4-1281-2901-3E4D-F203D5EEF89D}" dt="2026-02-24T06:06:18.081" v="17" actId="20577"/>
          <ac:spMkLst>
            <pc:docMk/>
            <pc:sldMk cId="3784711537" sldId="265"/>
            <ac:spMk id="3" creationId="{DEFFB6BC-B8A2-4F6A-861D-C36B251B727B}"/>
          </ac:spMkLst>
        </pc:spChg>
      </pc:sldChg>
      <pc:sldChg chg="modSp">
        <pc:chgData name="Guest User" userId="S::urn:spo:tenantanon#ad06ef22-d6dc-4a55-b4c1-c3a158f5f147::" providerId="AD" clId="Web-{298D95F4-1281-2901-3E4D-F203D5EEF89D}" dt="2026-02-24T06:00:06.083" v="9" actId="20577"/>
        <pc:sldMkLst>
          <pc:docMk/>
          <pc:sldMk cId="816418403" sldId="267"/>
        </pc:sldMkLst>
        <pc:spChg chg="mod">
          <ac:chgData name="Guest User" userId="S::urn:spo:tenantanon#ad06ef22-d6dc-4a55-b4c1-c3a158f5f147::" providerId="AD" clId="Web-{298D95F4-1281-2901-3E4D-F203D5EEF89D}" dt="2026-02-24T06:00:06.083" v="9" actId="20577"/>
          <ac:spMkLst>
            <pc:docMk/>
            <pc:sldMk cId="816418403" sldId="267"/>
            <ac:spMk id="3" creationId="{B2658A8F-6943-4E76-8967-55B21E8D3429}"/>
          </ac:spMkLst>
        </pc:spChg>
      </pc:sldChg>
    </pc:docChg>
  </pc:docChgLst>
  <pc:docChgLst>
    <pc:chgData name="Guest User" userId="S::urn:spo:tenantanon#ad06ef22-d6dc-4a55-b4c1-c3a158f5f147::" providerId="AD" clId="Web-{7303C101-371A-6AEB-380C-D84C382AAB3C}"/>
    <pc:docChg chg="modSld">
      <pc:chgData name="Guest User" userId="S::urn:spo:tenantanon#ad06ef22-d6dc-4a55-b4c1-c3a158f5f147::" providerId="AD" clId="Web-{7303C101-371A-6AEB-380C-D84C382AAB3C}" dt="2026-03-11T09:39:36.450" v="1" actId="14100"/>
      <pc:docMkLst>
        <pc:docMk/>
      </pc:docMkLst>
      <pc:sldChg chg="modSp">
        <pc:chgData name="Guest User" userId="S::urn:spo:tenantanon#ad06ef22-d6dc-4a55-b4c1-c3a158f5f147::" providerId="AD" clId="Web-{7303C101-371A-6AEB-380C-D84C382AAB3C}" dt="2026-03-11T09:39:36.450" v="1" actId="14100"/>
        <pc:sldMkLst>
          <pc:docMk/>
          <pc:sldMk cId="308195611" sldId="260"/>
        </pc:sldMkLst>
        <pc:spChg chg="mod">
          <ac:chgData name="Guest User" userId="S::urn:spo:tenantanon#ad06ef22-d6dc-4a55-b4c1-c3a158f5f147::" providerId="AD" clId="Web-{7303C101-371A-6AEB-380C-D84C382AAB3C}" dt="2026-03-11T09:39:36.450" v="1" actId="14100"/>
          <ac:spMkLst>
            <pc:docMk/>
            <pc:sldMk cId="308195611" sldId="260"/>
            <ac:spMk id="2" creationId="{DF7D89FB-6AE0-4387-B7C5-B6BE39BA7579}"/>
          </ac:spMkLst>
        </pc:sp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F6A618-09FA-4FA9-896D-79F33E5C14FB}" type="doc">
      <dgm:prSet loTypeId="urn:microsoft.com/office/officeart/2005/8/layout/vList5" loCatId="list" qsTypeId="urn:microsoft.com/office/officeart/2005/8/quickstyle/simple1" qsCatId="simple" csTypeId="urn:microsoft.com/office/officeart/2005/8/colors/colorful1" csCatId="colorful"/>
      <dgm:spPr/>
      <dgm:t>
        <a:bodyPr/>
        <a:lstStyle/>
        <a:p>
          <a:endParaRPr lang="en-US"/>
        </a:p>
      </dgm:t>
    </dgm:pt>
    <dgm:pt modelId="{0D63C321-B6BF-4F44-8460-059C4DB479A8}" type="pres">
      <dgm:prSet presAssocID="{21F6A618-09FA-4FA9-896D-79F33E5C14FB}" presName="Name0" presStyleCnt="0">
        <dgm:presLayoutVars>
          <dgm:dir/>
          <dgm:animLvl val="lvl"/>
          <dgm:resizeHandles val="exact"/>
        </dgm:presLayoutVars>
      </dgm:prSet>
      <dgm:spPr/>
      <dgm:t>
        <a:bodyPr/>
        <a:lstStyle/>
        <a:p>
          <a:endParaRPr lang="en-US"/>
        </a:p>
      </dgm:t>
    </dgm:pt>
  </dgm:ptLst>
  <dgm:cxnLst>
    <dgm:cxn modelId="{1BD35A9B-9895-054D-B983-D76CB588D357}" type="presOf" srcId="{21F6A618-09FA-4FA9-896D-79F33E5C14FB}" destId="{0D63C321-B6BF-4F44-8460-059C4DB479A8}"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990C0E-385A-46E1-A872-03852ADA83AA}" type="doc">
      <dgm:prSet loTypeId="urn:microsoft.com/office/officeart/2008/layout/BendingPictureSemiTransparentText" loCatId="picture" qsTypeId="urn:microsoft.com/office/officeart/2005/8/quickstyle/simple1" qsCatId="simple" csTypeId="urn:microsoft.com/office/officeart/2005/8/colors/accent1_2" csCatId="accent1" phldr="1"/>
      <dgm:spPr/>
      <dgm:t>
        <a:bodyPr/>
        <a:lstStyle/>
        <a:p>
          <a:endParaRPr lang="en-US"/>
        </a:p>
      </dgm:t>
    </dgm:pt>
    <dgm:pt modelId="{2A6E1FD2-C312-44E0-8D4F-62D0B25DEF3D}">
      <dgm:prSet/>
      <dgm:spPr/>
      <dgm:t>
        <a:bodyPr/>
        <a:lstStyle/>
        <a:p>
          <a:r>
            <a:rPr lang="en-IN"/>
            <a:t>AB</a:t>
          </a:r>
          <a:endParaRPr lang="en-US"/>
        </a:p>
      </dgm:t>
    </dgm:pt>
    <dgm:pt modelId="{7161A157-77DD-4654-83AD-85053500904D}" type="sibTrans" cxnId="{B83602C7-9F62-4F8B-A8CB-890C8908B36E}">
      <dgm:prSet/>
      <dgm:spPr/>
      <dgm:t>
        <a:bodyPr/>
        <a:lstStyle/>
        <a:p>
          <a:endParaRPr lang="en-US"/>
        </a:p>
      </dgm:t>
    </dgm:pt>
    <dgm:pt modelId="{44F95057-5241-437B-867E-E88C19DED002}" type="parTrans" cxnId="{B83602C7-9F62-4F8B-A8CB-890C8908B36E}">
      <dgm:prSet/>
      <dgm:spPr/>
      <dgm:t>
        <a:bodyPr/>
        <a:lstStyle/>
        <a:p>
          <a:endParaRPr lang="en-US"/>
        </a:p>
      </dgm:t>
    </dgm:pt>
    <dgm:pt modelId="{E51EB8E7-DD72-46C1-B39A-364CA3CDCF01}" type="pres">
      <dgm:prSet presAssocID="{D4990C0E-385A-46E1-A872-03852ADA83AA}" presName="Name0" presStyleCnt="0">
        <dgm:presLayoutVars>
          <dgm:dir/>
          <dgm:resizeHandles val="exact"/>
        </dgm:presLayoutVars>
      </dgm:prSet>
      <dgm:spPr/>
      <dgm:t>
        <a:bodyPr/>
        <a:lstStyle/>
        <a:p>
          <a:endParaRPr lang="en-US"/>
        </a:p>
      </dgm:t>
    </dgm:pt>
    <dgm:pt modelId="{9B283DD1-F684-445E-A8B5-7FFD75260CAB}" type="pres">
      <dgm:prSet presAssocID="{2A6E1FD2-C312-44E0-8D4F-62D0B25DEF3D}" presName="composite" presStyleCnt="0"/>
      <dgm:spPr/>
    </dgm:pt>
    <dgm:pt modelId="{31B2C2FD-2E8E-46DF-BBEC-7E89A21861D6}" type="pres">
      <dgm:prSet presAssocID="{2A6E1FD2-C312-44E0-8D4F-62D0B25DEF3D}" presName="rect1" presStyleLbl="bgShp" presStyleIdx="0" presStyleCnt="1" custLinFactY="-59823" custLinFactNeighborX="46516" custLinFactNeighborY="-100000"/>
      <dgm:spPr/>
    </dgm:pt>
    <dgm:pt modelId="{244603A0-6E4C-43F7-8EA3-82CF4D464933}" type="pres">
      <dgm:prSet presAssocID="{2A6E1FD2-C312-44E0-8D4F-62D0B25DEF3D}" presName="rect2" presStyleLbl="trBgShp" presStyleIdx="0" presStyleCnt="1">
        <dgm:presLayoutVars>
          <dgm:bulletEnabled val="1"/>
        </dgm:presLayoutVars>
      </dgm:prSet>
      <dgm:spPr/>
      <dgm:t>
        <a:bodyPr/>
        <a:lstStyle/>
        <a:p>
          <a:endParaRPr lang="en-US"/>
        </a:p>
      </dgm:t>
    </dgm:pt>
  </dgm:ptLst>
  <dgm:cxnLst>
    <dgm:cxn modelId="{EBC72601-4ED0-4858-ACCE-246747221301}" type="presOf" srcId="{2A6E1FD2-C312-44E0-8D4F-62D0B25DEF3D}" destId="{244603A0-6E4C-43F7-8EA3-82CF4D464933}" srcOrd="0" destOrd="0" presId="urn:microsoft.com/office/officeart/2008/layout/BendingPictureSemiTransparentText"/>
    <dgm:cxn modelId="{B83602C7-9F62-4F8B-A8CB-890C8908B36E}" srcId="{D4990C0E-385A-46E1-A872-03852ADA83AA}" destId="{2A6E1FD2-C312-44E0-8D4F-62D0B25DEF3D}" srcOrd="0" destOrd="0" parTransId="{44F95057-5241-437B-867E-E88C19DED002}" sibTransId="{7161A157-77DD-4654-83AD-85053500904D}"/>
    <dgm:cxn modelId="{1F96EBE2-BD2C-45F6-A051-87CF3807C652}" type="presOf" srcId="{D4990C0E-385A-46E1-A872-03852ADA83AA}" destId="{E51EB8E7-DD72-46C1-B39A-364CA3CDCF01}" srcOrd="0" destOrd="0" presId="urn:microsoft.com/office/officeart/2008/layout/BendingPictureSemiTransparentText"/>
    <dgm:cxn modelId="{40F84F1F-5198-4E65-83DD-8C930DCA02B4}" type="presParOf" srcId="{E51EB8E7-DD72-46C1-B39A-364CA3CDCF01}" destId="{9B283DD1-F684-445E-A8B5-7FFD75260CAB}" srcOrd="0" destOrd="0" presId="urn:microsoft.com/office/officeart/2008/layout/BendingPictureSemiTransparentText"/>
    <dgm:cxn modelId="{C568537B-413C-4D48-8D09-EE659F3ACABE}" type="presParOf" srcId="{9B283DD1-F684-445E-A8B5-7FFD75260CAB}" destId="{31B2C2FD-2E8E-46DF-BBEC-7E89A21861D6}" srcOrd="0" destOrd="0" presId="urn:microsoft.com/office/officeart/2008/layout/BendingPictureSemiTransparentText"/>
    <dgm:cxn modelId="{CD838BCD-833B-454F-9575-AF1B7787557A}" type="presParOf" srcId="{9B283DD1-F684-445E-A8B5-7FFD75260CAB}" destId="{244603A0-6E4C-43F7-8EA3-82CF4D464933}" srcOrd="1" destOrd="0" presId="urn:microsoft.com/office/officeart/2008/layout/BendingPictureSemiTransparentTex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990C0E-385A-46E1-A872-03852ADA83AA}" type="doc">
      <dgm:prSet loTypeId="urn:microsoft.com/office/officeart/2008/layout/BendingPictureSemiTransparentText" loCatId="picture" qsTypeId="urn:microsoft.com/office/officeart/2005/8/quickstyle/simple1" qsCatId="simple" csTypeId="urn:microsoft.com/office/officeart/2005/8/colors/accent1_2" csCatId="accent1" phldr="1"/>
      <dgm:spPr/>
      <dgm:t>
        <a:bodyPr/>
        <a:lstStyle/>
        <a:p>
          <a:endParaRPr lang="en-US"/>
        </a:p>
      </dgm:t>
    </dgm:pt>
    <dgm:pt modelId="{6E9E8653-8BC8-4C52-A35B-2769E502392D}">
      <dgm:prSet/>
      <dgm:spPr/>
      <dgm:t>
        <a:bodyPr/>
        <a:lstStyle/>
        <a:p>
          <a:r>
            <a:rPr lang="en-US" dirty="0"/>
            <a:t>Ashi</a:t>
          </a:r>
        </a:p>
      </dgm:t>
    </dgm:pt>
    <dgm:pt modelId="{82B45140-462E-4C8B-9B25-E35F1EF90BB3}" type="parTrans" cxnId="{BE2EDDE4-F6AF-4ADF-B7B8-8B53B7B8A88E}">
      <dgm:prSet/>
      <dgm:spPr/>
      <dgm:t>
        <a:bodyPr/>
        <a:lstStyle/>
        <a:p>
          <a:endParaRPr lang="en-US"/>
        </a:p>
      </dgm:t>
    </dgm:pt>
    <dgm:pt modelId="{BC7146B3-9BDF-4553-B199-2DB02A9555FA}" type="sibTrans" cxnId="{BE2EDDE4-F6AF-4ADF-B7B8-8B53B7B8A88E}">
      <dgm:prSet/>
      <dgm:spPr/>
      <dgm:t>
        <a:bodyPr/>
        <a:lstStyle/>
        <a:p>
          <a:endParaRPr lang="en-US"/>
        </a:p>
      </dgm:t>
    </dgm:pt>
    <dgm:pt modelId="{629E7743-9A8E-4EF3-818E-D59C73E8F9D0}">
      <dgm:prSet/>
      <dgm:spPr/>
      <dgm:t>
        <a:bodyPr/>
        <a:lstStyle/>
        <a:p>
          <a:r>
            <a:rPr lang="en-IN" dirty="0"/>
            <a:t>Kashish Gautam</a:t>
          </a:r>
        </a:p>
      </dgm:t>
    </dgm:pt>
    <dgm:pt modelId="{608BF441-284A-40FA-A10C-B68FB6B15433}" type="parTrans" cxnId="{C2B66776-04BB-481A-BC7B-A044D25D7FFE}">
      <dgm:prSet/>
      <dgm:spPr/>
      <dgm:t>
        <a:bodyPr/>
        <a:lstStyle/>
        <a:p>
          <a:endParaRPr lang="en-IN"/>
        </a:p>
      </dgm:t>
    </dgm:pt>
    <dgm:pt modelId="{BE558535-0C49-4CBE-B386-003378302491}" type="sibTrans" cxnId="{C2B66776-04BB-481A-BC7B-A044D25D7FFE}">
      <dgm:prSet/>
      <dgm:spPr/>
      <dgm:t>
        <a:bodyPr/>
        <a:lstStyle/>
        <a:p>
          <a:endParaRPr lang="en-IN"/>
        </a:p>
      </dgm:t>
    </dgm:pt>
    <dgm:pt modelId="{52DFE429-4D8F-4E83-8247-35E3D421C5BC}">
      <dgm:prSet/>
      <dgm:spPr/>
      <dgm:t>
        <a:bodyPr/>
        <a:lstStyle/>
        <a:p>
          <a:r>
            <a:rPr lang="en-US" dirty="0"/>
            <a:t>Bhoomi</a:t>
          </a:r>
        </a:p>
      </dgm:t>
    </dgm:pt>
    <dgm:pt modelId="{8E98556B-D954-4E58-94F6-DB98180A4585}" type="sibTrans" cxnId="{48BC4E36-219E-4C17-9D2E-465B191DCFE4}">
      <dgm:prSet/>
      <dgm:spPr/>
      <dgm:t>
        <a:bodyPr/>
        <a:lstStyle/>
        <a:p>
          <a:endParaRPr lang="en-US"/>
        </a:p>
      </dgm:t>
    </dgm:pt>
    <dgm:pt modelId="{29178585-482F-44F1-8411-EEE4FEB0A18B}" type="parTrans" cxnId="{48BC4E36-219E-4C17-9D2E-465B191DCFE4}">
      <dgm:prSet/>
      <dgm:spPr/>
      <dgm:t>
        <a:bodyPr/>
        <a:lstStyle/>
        <a:p>
          <a:endParaRPr lang="en-US"/>
        </a:p>
      </dgm:t>
    </dgm:pt>
    <dgm:pt modelId="{E51EB8E7-DD72-46C1-B39A-364CA3CDCF01}" type="pres">
      <dgm:prSet presAssocID="{D4990C0E-385A-46E1-A872-03852ADA83AA}" presName="Name0" presStyleCnt="0">
        <dgm:presLayoutVars>
          <dgm:dir/>
          <dgm:resizeHandles val="exact"/>
        </dgm:presLayoutVars>
      </dgm:prSet>
      <dgm:spPr/>
      <dgm:t>
        <a:bodyPr/>
        <a:lstStyle/>
        <a:p>
          <a:endParaRPr lang="en-US"/>
        </a:p>
      </dgm:t>
    </dgm:pt>
    <dgm:pt modelId="{53FF62FF-A0A1-4EA0-9B3D-C59EDFD13FC9}" type="pres">
      <dgm:prSet presAssocID="{52DFE429-4D8F-4E83-8247-35E3D421C5BC}" presName="composite" presStyleCnt="0"/>
      <dgm:spPr/>
    </dgm:pt>
    <dgm:pt modelId="{0205B927-6FCD-48F4-B5CB-61E08D0B1DC7}" type="pres">
      <dgm:prSet presAssocID="{52DFE429-4D8F-4E83-8247-35E3D421C5BC}" presName="rect1" presStyleLbl="bgShp" presStyleIdx="0" presStyleCnt="3" custLinFactNeighborX="3584" custLinFactNeighborY="1832"/>
      <dgm:spPr>
        <a:blipFill>
          <a:blip xmlns:r="http://schemas.openxmlformats.org/officeDocument/2006/relationships" r:embed="rId1"/>
          <a:srcRect/>
          <a:stretch>
            <a:fillRect t="-54000" b="-54000"/>
          </a:stretch>
        </a:blipFill>
      </dgm:spPr>
    </dgm:pt>
    <dgm:pt modelId="{1C170DB8-1B1C-4904-A41A-141F44C4B928}" type="pres">
      <dgm:prSet presAssocID="{52DFE429-4D8F-4E83-8247-35E3D421C5BC}" presName="rect2" presStyleLbl="trBgShp" presStyleIdx="0" presStyleCnt="3">
        <dgm:presLayoutVars>
          <dgm:bulletEnabled val="1"/>
        </dgm:presLayoutVars>
      </dgm:prSet>
      <dgm:spPr/>
      <dgm:t>
        <a:bodyPr/>
        <a:lstStyle/>
        <a:p>
          <a:endParaRPr lang="en-US"/>
        </a:p>
      </dgm:t>
    </dgm:pt>
    <dgm:pt modelId="{FC86206A-F1F4-4413-9358-F5DB48E5964D}" type="pres">
      <dgm:prSet presAssocID="{8E98556B-D954-4E58-94F6-DB98180A4585}" presName="sibTrans" presStyleCnt="0"/>
      <dgm:spPr/>
    </dgm:pt>
    <dgm:pt modelId="{D33AF38E-8E2B-494E-8442-160A35084E7D}" type="pres">
      <dgm:prSet presAssocID="{6E9E8653-8BC8-4C52-A35B-2769E502392D}" presName="composite" presStyleCnt="0"/>
      <dgm:spPr/>
    </dgm:pt>
    <dgm:pt modelId="{21CA5776-F04D-4D27-BE76-A00E5A36C5E0}" type="pres">
      <dgm:prSet presAssocID="{6E9E8653-8BC8-4C52-A35B-2769E502392D}" presName="rect1" presStyleLbl="bgShp" presStyleIdx="1" presStyleCnt="3"/>
      <dgm:spPr>
        <a:blipFill>
          <a:blip xmlns:r="http://schemas.openxmlformats.org/officeDocument/2006/relationships" r:embed="rId2"/>
          <a:srcRect/>
          <a:stretch>
            <a:fillRect t="-14000" b="-14000"/>
          </a:stretch>
        </a:blipFill>
      </dgm:spPr>
    </dgm:pt>
    <dgm:pt modelId="{AB53B20B-C6D5-4022-A9C6-6CE1E16884D9}" type="pres">
      <dgm:prSet presAssocID="{6E9E8653-8BC8-4C52-A35B-2769E502392D}" presName="rect2" presStyleLbl="trBgShp" presStyleIdx="1" presStyleCnt="3">
        <dgm:presLayoutVars>
          <dgm:bulletEnabled val="1"/>
        </dgm:presLayoutVars>
      </dgm:prSet>
      <dgm:spPr/>
      <dgm:t>
        <a:bodyPr/>
        <a:lstStyle/>
        <a:p>
          <a:endParaRPr lang="en-US"/>
        </a:p>
      </dgm:t>
    </dgm:pt>
    <dgm:pt modelId="{41C26BD0-DEB8-4259-BEAD-7C972AA891D0}" type="pres">
      <dgm:prSet presAssocID="{BC7146B3-9BDF-4553-B199-2DB02A9555FA}" presName="sibTrans" presStyleCnt="0"/>
      <dgm:spPr/>
    </dgm:pt>
    <dgm:pt modelId="{3250DF4C-C6DF-4771-849A-2A64FAF6EF2B}" type="pres">
      <dgm:prSet presAssocID="{629E7743-9A8E-4EF3-818E-D59C73E8F9D0}" presName="composite" presStyleCnt="0"/>
      <dgm:spPr/>
    </dgm:pt>
    <dgm:pt modelId="{102ABEBB-8E97-4236-8D77-959DBE8C7829}" type="pres">
      <dgm:prSet presAssocID="{629E7743-9A8E-4EF3-818E-D59C73E8F9D0}" presName="rect1" presStyleLbl="bgShp" presStyleIdx="2" presStyleCnt="3" custLinFactNeighborX="-53013" custLinFactNeighborY="-3556"/>
      <dgm:spPr>
        <a:blipFill>
          <a:blip xmlns:r="http://schemas.openxmlformats.org/officeDocument/2006/relationships" r:embed="rId3"/>
          <a:srcRect/>
          <a:stretch>
            <a:fillRect t="-10000" b="-10000"/>
          </a:stretch>
        </a:blipFill>
      </dgm:spPr>
    </dgm:pt>
    <dgm:pt modelId="{26932341-5691-4012-B69F-F35D940F88F3}" type="pres">
      <dgm:prSet presAssocID="{629E7743-9A8E-4EF3-818E-D59C73E8F9D0}" presName="rect2" presStyleLbl="trBgShp" presStyleIdx="2" presStyleCnt="3" custLinFactNeighborX="-51462" custLinFactNeighborY="9909">
        <dgm:presLayoutVars>
          <dgm:bulletEnabled val="1"/>
        </dgm:presLayoutVars>
      </dgm:prSet>
      <dgm:spPr/>
      <dgm:t>
        <a:bodyPr/>
        <a:lstStyle/>
        <a:p>
          <a:endParaRPr lang="en-US"/>
        </a:p>
      </dgm:t>
    </dgm:pt>
  </dgm:ptLst>
  <dgm:cxnLst>
    <dgm:cxn modelId="{C2B66776-04BB-481A-BC7B-A044D25D7FFE}" srcId="{D4990C0E-385A-46E1-A872-03852ADA83AA}" destId="{629E7743-9A8E-4EF3-818E-D59C73E8F9D0}" srcOrd="2" destOrd="0" parTransId="{608BF441-284A-40FA-A10C-B68FB6B15433}" sibTransId="{BE558535-0C49-4CBE-B386-003378302491}"/>
    <dgm:cxn modelId="{E1AD0998-6955-4600-8AB9-8264374B576C}" type="presOf" srcId="{52DFE429-4D8F-4E83-8247-35E3D421C5BC}" destId="{1C170DB8-1B1C-4904-A41A-141F44C4B928}" srcOrd="0" destOrd="0" presId="urn:microsoft.com/office/officeart/2008/layout/BendingPictureSemiTransparentText"/>
    <dgm:cxn modelId="{48BC4E36-219E-4C17-9D2E-465B191DCFE4}" srcId="{D4990C0E-385A-46E1-A872-03852ADA83AA}" destId="{52DFE429-4D8F-4E83-8247-35E3D421C5BC}" srcOrd="0" destOrd="0" parTransId="{29178585-482F-44F1-8411-EEE4FEB0A18B}" sibTransId="{8E98556B-D954-4E58-94F6-DB98180A4585}"/>
    <dgm:cxn modelId="{BE2EDDE4-F6AF-4ADF-B7B8-8B53B7B8A88E}" srcId="{D4990C0E-385A-46E1-A872-03852ADA83AA}" destId="{6E9E8653-8BC8-4C52-A35B-2769E502392D}" srcOrd="1" destOrd="0" parTransId="{82B45140-462E-4C8B-9B25-E35F1EF90BB3}" sibTransId="{BC7146B3-9BDF-4553-B199-2DB02A9555FA}"/>
    <dgm:cxn modelId="{2BAC3D3C-D135-46BE-AEC0-44743D6067E5}" type="presOf" srcId="{629E7743-9A8E-4EF3-818E-D59C73E8F9D0}" destId="{26932341-5691-4012-B69F-F35D940F88F3}" srcOrd="0" destOrd="0" presId="urn:microsoft.com/office/officeart/2008/layout/BendingPictureSemiTransparentText"/>
    <dgm:cxn modelId="{858611F9-94F1-4024-A18B-1F3D86E2603F}" type="presOf" srcId="{6E9E8653-8BC8-4C52-A35B-2769E502392D}" destId="{AB53B20B-C6D5-4022-A9C6-6CE1E16884D9}" srcOrd="0" destOrd="0" presId="urn:microsoft.com/office/officeart/2008/layout/BendingPictureSemiTransparentText"/>
    <dgm:cxn modelId="{1F96EBE2-BD2C-45F6-A051-87CF3807C652}" type="presOf" srcId="{D4990C0E-385A-46E1-A872-03852ADA83AA}" destId="{E51EB8E7-DD72-46C1-B39A-364CA3CDCF01}" srcOrd="0" destOrd="0" presId="urn:microsoft.com/office/officeart/2008/layout/BendingPictureSemiTransparentText"/>
    <dgm:cxn modelId="{C370489E-C397-4B77-8F76-3BBC0166E5B0}" type="presParOf" srcId="{E51EB8E7-DD72-46C1-B39A-364CA3CDCF01}" destId="{53FF62FF-A0A1-4EA0-9B3D-C59EDFD13FC9}" srcOrd="0" destOrd="0" presId="urn:microsoft.com/office/officeart/2008/layout/BendingPictureSemiTransparentText"/>
    <dgm:cxn modelId="{914AA82B-E000-4EE7-87D5-73A5FB684C07}" type="presParOf" srcId="{53FF62FF-A0A1-4EA0-9B3D-C59EDFD13FC9}" destId="{0205B927-6FCD-48F4-B5CB-61E08D0B1DC7}" srcOrd="0" destOrd="0" presId="urn:microsoft.com/office/officeart/2008/layout/BendingPictureSemiTransparentText"/>
    <dgm:cxn modelId="{FA4A7E8C-462E-425A-931B-9ACD0DA6658C}" type="presParOf" srcId="{53FF62FF-A0A1-4EA0-9B3D-C59EDFD13FC9}" destId="{1C170DB8-1B1C-4904-A41A-141F44C4B928}" srcOrd="1" destOrd="0" presId="urn:microsoft.com/office/officeart/2008/layout/BendingPictureSemiTransparentText"/>
    <dgm:cxn modelId="{7A60C501-11FE-453E-8C54-28D8D23AFC88}" type="presParOf" srcId="{E51EB8E7-DD72-46C1-B39A-364CA3CDCF01}" destId="{FC86206A-F1F4-4413-9358-F5DB48E5964D}" srcOrd="1" destOrd="0" presId="urn:microsoft.com/office/officeart/2008/layout/BendingPictureSemiTransparentText"/>
    <dgm:cxn modelId="{46A835FD-93A9-4CCA-B712-5CBB49C93B21}" type="presParOf" srcId="{E51EB8E7-DD72-46C1-B39A-364CA3CDCF01}" destId="{D33AF38E-8E2B-494E-8442-160A35084E7D}" srcOrd="2" destOrd="0" presId="urn:microsoft.com/office/officeart/2008/layout/BendingPictureSemiTransparentText"/>
    <dgm:cxn modelId="{44CEE286-A7D4-48B0-B2E3-AAB6E4DFB9F9}" type="presParOf" srcId="{D33AF38E-8E2B-494E-8442-160A35084E7D}" destId="{21CA5776-F04D-4D27-BE76-A00E5A36C5E0}" srcOrd="0" destOrd="0" presId="urn:microsoft.com/office/officeart/2008/layout/BendingPictureSemiTransparentText"/>
    <dgm:cxn modelId="{1B5879DB-70C7-43A8-B2A0-91AC44A40FDE}" type="presParOf" srcId="{D33AF38E-8E2B-494E-8442-160A35084E7D}" destId="{AB53B20B-C6D5-4022-A9C6-6CE1E16884D9}" srcOrd="1" destOrd="0" presId="urn:microsoft.com/office/officeart/2008/layout/BendingPictureSemiTransparentText"/>
    <dgm:cxn modelId="{0D85804E-4CB0-4CBE-9BE2-63B688E12D07}" type="presParOf" srcId="{E51EB8E7-DD72-46C1-B39A-364CA3CDCF01}" destId="{41C26BD0-DEB8-4259-BEAD-7C972AA891D0}" srcOrd="3" destOrd="0" presId="urn:microsoft.com/office/officeart/2008/layout/BendingPictureSemiTransparentText"/>
    <dgm:cxn modelId="{C045E4FA-5BCC-47CC-9A60-4384D53D6DB2}" type="presParOf" srcId="{E51EB8E7-DD72-46C1-B39A-364CA3CDCF01}" destId="{3250DF4C-C6DF-4771-849A-2A64FAF6EF2B}" srcOrd="4" destOrd="0" presId="urn:microsoft.com/office/officeart/2008/layout/BendingPictureSemiTransparentText"/>
    <dgm:cxn modelId="{8A97791A-E707-462E-AA56-5AAF6C2D5CED}" type="presParOf" srcId="{3250DF4C-C6DF-4771-849A-2A64FAF6EF2B}" destId="{102ABEBB-8E97-4236-8D77-959DBE8C7829}" srcOrd="0" destOrd="0" presId="urn:microsoft.com/office/officeart/2008/layout/BendingPictureSemiTransparentText"/>
    <dgm:cxn modelId="{83F1CD61-18CA-417A-A504-58F42A1292E5}" type="presParOf" srcId="{3250DF4C-C6DF-4771-849A-2A64FAF6EF2B}" destId="{26932341-5691-4012-B69F-F35D940F88F3}" srcOrd="1" destOrd="0" presId="urn:microsoft.com/office/officeart/2008/layout/BendingPictureSemiTransparentTex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B2C2FD-2E8E-46DF-BBEC-7E89A21861D6}">
      <dsp:nvSpPr>
        <dsp:cNvPr id="0" name=""/>
        <dsp:cNvSpPr/>
      </dsp:nvSpPr>
      <dsp:spPr>
        <a:xfrm>
          <a:off x="349581" y="0"/>
          <a:ext cx="2023230" cy="1734148"/>
        </a:xfrm>
        <a:prstGeom prst="rect">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4603A0-6E4C-43F7-8EA3-82CF4D464933}">
      <dsp:nvSpPr>
        <dsp:cNvPr id="0" name=""/>
        <dsp:cNvSpPr/>
      </dsp:nvSpPr>
      <dsp:spPr>
        <a:xfrm>
          <a:off x="174790" y="1213903"/>
          <a:ext cx="2023230" cy="416195"/>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IN" sz="2200" kern="1200"/>
            <a:t>AB</a:t>
          </a:r>
          <a:endParaRPr lang="en-US" sz="2200" kern="1200"/>
        </a:p>
      </dsp:txBody>
      <dsp:txXfrm>
        <a:off x="174790" y="1213903"/>
        <a:ext cx="2023230" cy="4161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05B927-6FCD-48F4-B5CB-61E08D0B1DC7}">
      <dsp:nvSpPr>
        <dsp:cNvPr id="0" name=""/>
        <dsp:cNvSpPr/>
      </dsp:nvSpPr>
      <dsp:spPr>
        <a:xfrm>
          <a:off x="566557" y="35131"/>
          <a:ext cx="2046711" cy="1754273"/>
        </a:xfrm>
        <a:prstGeom prst="rect">
          <a:avLst/>
        </a:prstGeom>
        <a:blipFill>
          <a:blip xmlns:r="http://schemas.openxmlformats.org/officeDocument/2006/relationships" r:embed="rId1"/>
          <a:srcRect/>
          <a:stretch>
            <a:fillRect t="-54000" b="-54000"/>
          </a:stretch>
        </a:blipFill>
        <a:ln>
          <a:noFill/>
        </a:ln>
        <a:effectLst/>
      </dsp:spPr>
      <dsp:style>
        <a:lnRef idx="0">
          <a:scrgbClr r="0" g="0" b="0"/>
        </a:lnRef>
        <a:fillRef idx="1">
          <a:scrgbClr r="0" g="0" b="0"/>
        </a:fillRef>
        <a:effectRef idx="0">
          <a:scrgbClr r="0" g="0" b="0"/>
        </a:effectRef>
        <a:fontRef idx="minor"/>
      </dsp:style>
    </dsp:sp>
    <dsp:sp modelId="{1C170DB8-1B1C-4904-A41A-141F44C4B928}">
      <dsp:nvSpPr>
        <dsp:cNvPr id="0" name=""/>
        <dsp:cNvSpPr/>
      </dsp:nvSpPr>
      <dsp:spPr>
        <a:xfrm>
          <a:off x="493203" y="1230985"/>
          <a:ext cx="2046711" cy="421025"/>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a:t>Bhoomi</a:t>
          </a:r>
        </a:p>
      </dsp:txBody>
      <dsp:txXfrm>
        <a:off x="493203" y="1230985"/>
        <a:ext cx="2046711" cy="421025"/>
      </dsp:txXfrm>
    </dsp:sp>
    <dsp:sp modelId="{21CA5776-F04D-4D27-BE76-A00E5A36C5E0}">
      <dsp:nvSpPr>
        <dsp:cNvPr id="0" name=""/>
        <dsp:cNvSpPr/>
      </dsp:nvSpPr>
      <dsp:spPr>
        <a:xfrm>
          <a:off x="2748673" y="2993"/>
          <a:ext cx="2046711" cy="1754273"/>
        </a:xfrm>
        <a:prstGeom prst="rect">
          <a:avLst/>
        </a:prstGeom>
        <a:blipFill>
          <a:blip xmlns:r="http://schemas.openxmlformats.org/officeDocument/2006/relationships" r:embed="rId2"/>
          <a:srcRect/>
          <a:stretch>
            <a:fillRect t="-14000" b="-14000"/>
          </a:stretch>
        </a:blipFill>
        <a:ln>
          <a:noFill/>
        </a:ln>
        <a:effectLst/>
      </dsp:spPr>
      <dsp:style>
        <a:lnRef idx="0">
          <a:scrgbClr r="0" g="0" b="0"/>
        </a:lnRef>
        <a:fillRef idx="1">
          <a:scrgbClr r="0" g="0" b="0"/>
        </a:fillRef>
        <a:effectRef idx="0">
          <a:scrgbClr r="0" g="0" b="0"/>
        </a:effectRef>
        <a:fontRef idx="minor"/>
      </dsp:style>
    </dsp:sp>
    <dsp:sp modelId="{AB53B20B-C6D5-4022-A9C6-6CE1E16884D9}">
      <dsp:nvSpPr>
        <dsp:cNvPr id="0" name=""/>
        <dsp:cNvSpPr/>
      </dsp:nvSpPr>
      <dsp:spPr>
        <a:xfrm>
          <a:off x="2748673" y="1230985"/>
          <a:ext cx="2046711" cy="421025"/>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a:t>Ashi</a:t>
          </a:r>
        </a:p>
      </dsp:txBody>
      <dsp:txXfrm>
        <a:off x="2748673" y="1230985"/>
        <a:ext cx="2046711" cy="421025"/>
      </dsp:txXfrm>
    </dsp:sp>
    <dsp:sp modelId="{102ABEBB-8E97-4236-8D77-959DBE8C7829}">
      <dsp:nvSpPr>
        <dsp:cNvPr id="0" name=""/>
        <dsp:cNvSpPr/>
      </dsp:nvSpPr>
      <dsp:spPr>
        <a:xfrm>
          <a:off x="535915" y="1899556"/>
          <a:ext cx="2046711" cy="1754273"/>
        </a:xfrm>
        <a:prstGeom prst="rect">
          <a:avLst/>
        </a:prstGeom>
        <a:blipFill>
          <a:blip xmlns:r="http://schemas.openxmlformats.org/officeDocument/2006/relationships" r:embed="rId3"/>
          <a:srcRect/>
          <a:stretch>
            <a:fillRect t="-10000" b="-10000"/>
          </a:stretch>
        </a:blipFill>
        <a:ln>
          <a:noFill/>
        </a:ln>
        <a:effectLst/>
      </dsp:spPr>
      <dsp:style>
        <a:lnRef idx="0">
          <a:scrgbClr r="0" g="0" b="0"/>
        </a:lnRef>
        <a:fillRef idx="1">
          <a:scrgbClr r="0" g="0" b="0"/>
        </a:fillRef>
        <a:effectRef idx="0">
          <a:scrgbClr r="0" g="0" b="0"/>
        </a:effectRef>
        <a:fontRef idx="minor"/>
      </dsp:style>
    </dsp:sp>
    <dsp:sp modelId="{26932341-5691-4012-B69F-F35D940F88F3}">
      <dsp:nvSpPr>
        <dsp:cNvPr id="0" name=""/>
        <dsp:cNvSpPr/>
      </dsp:nvSpPr>
      <dsp:spPr>
        <a:xfrm>
          <a:off x="567660" y="3231649"/>
          <a:ext cx="2046711" cy="421025"/>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IN" sz="2200" kern="1200" dirty="0"/>
            <a:t>Kashish Gautam</a:t>
          </a:r>
        </a:p>
      </dsp:txBody>
      <dsp:txXfrm>
        <a:off x="567660" y="3231649"/>
        <a:ext cx="2046711" cy="42102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SemiTransparentText">
  <dgm:title val=""/>
  <dgm:desc val=""/>
  <dgm:catLst>
    <dgm:cat type="picture" pri="7000"/>
    <dgm:cat type="pictureconvert" pri="7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19"/>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1667"/>
        </dgm:alg>
        <dgm:shape xmlns:r="http://schemas.openxmlformats.org/officeDocument/2006/relationships" r:blip="">
          <dgm:adjLst/>
        </dgm:shape>
        <dgm:constrLst>
          <dgm:constr type="l" for="ch" forName="rect1" refType="w" fact="0"/>
          <dgm:constr type="t" for="ch" forName="rect1" refType="h" fact="0"/>
          <dgm:constr type="w" for="ch" forName="rect1" refType="w"/>
          <dgm:constr type="h" for="ch" forName="rect1" refType="h"/>
          <dgm:constr type="l" for="ch" forName="rect2" refType="w" fact="0"/>
          <dgm:constr type="t" for="ch" forName="rect2" refType="h" fact="0.7"/>
          <dgm:constr type="w" for="ch" forName="rect2" refType="w"/>
          <dgm:constr type="h" for="ch" forName="rect2" refType="h" fact="0.24"/>
        </dgm:constrLst>
        <dgm:layoutNode name="rect1" styleLbl="bgShp">
          <dgm:alg type="sp"/>
          <dgm:shape xmlns:r="http://schemas.openxmlformats.org/officeDocument/2006/relationships" type="rect" r:blip="" blipPhldr="1">
            <dgm:adjLst/>
          </dgm:shape>
          <dgm:presOf/>
        </dgm:layoutNode>
        <dgm:layoutNode name="rect2" styleLbl="trBgShp">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BendingPictureSemiTransparentText">
  <dgm:title val=""/>
  <dgm:desc val=""/>
  <dgm:catLst>
    <dgm:cat type="picture" pri="7000"/>
    <dgm:cat type="pictureconvert" pri="7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19"/>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1667"/>
        </dgm:alg>
        <dgm:shape xmlns:r="http://schemas.openxmlformats.org/officeDocument/2006/relationships" r:blip="">
          <dgm:adjLst/>
        </dgm:shape>
        <dgm:constrLst>
          <dgm:constr type="l" for="ch" forName="rect1" refType="w" fact="0"/>
          <dgm:constr type="t" for="ch" forName="rect1" refType="h" fact="0"/>
          <dgm:constr type="w" for="ch" forName="rect1" refType="w"/>
          <dgm:constr type="h" for="ch" forName="rect1" refType="h"/>
          <dgm:constr type="l" for="ch" forName="rect2" refType="w" fact="0"/>
          <dgm:constr type="t" for="ch" forName="rect2" refType="h" fact="0.7"/>
          <dgm:constr type="w" for="ch" forName="rect2" refType="w"/>
          <dgm:constr type="h" for="ch" forName="rect2" refType="h" fact="0.24"/>
        </dgm:constrLst>
        <dgm:layoutNode name="rect1" styleLbl="bgShp">
          <dgm:alg type="sp"/>
          <dgm:shape xmlns:r="http://schemas.openxmlformats.org/officeDocument/2006/relationships" type="rect" r:blip="" blipPhldr="1">
            <dgm:adjLst/>
          </dgm:shape>
          <dgm:presOf/>
        </dgm:layoutNode>
        <dgm:layoutNode name="rect2" styleLbl="trBgShp">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1160EA64-D806-43AC-9DF2-F8C432F32B4C}" type="datetimeFigureOut">
              <a:rPr lang="en-US" dirty="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2350654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70A7B3-6521-4DCA-87E5-044747A908C1}" type="datetimeFigureOut">
              <a:rPr lang="en-US" dirty="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1312252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3339425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AB134690-1557-4C89-A502-4959FE7FAD70}" type="datetimeFigureOut">
              <a:rPr lang="en-US" dirty="0"/>
              <a:t>3/13/2026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02011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34360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037C31-9E7A-4F99-8774-A0E530DE1A42}" type="datetimeFigureOut">
              <a:rPr lang="en-US" dirty="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393314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552716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3/13/2026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90651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3/13/2026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2252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F9C37B-1D36-470B-8223-D6C91242EC14}" type="datetimeFigureOut">
              <a:rPr lang="en-US" dirty="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44864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C6F52A-A82B-47A2-A83A-8C4C91F2D59F}" type="datetimeFigureOut">
              <a:rPr lang="en-US" dirty="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1702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3/13/2026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a:p>
        </p:txBody>
      </p:sp>
    </p:spTree>
    <p:extLst>
      <p:ext uri="{BB962C8B-B14F-4D97-AF65-F5344CB8AC3E}">
        <p14:creationId xmlns:p14="http://schemas.microsoft.com/office/powerpoint/2010/main" val="399306866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image" Target="../media/image4.jpeg"/><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bhoomi-nsti/Bank-Customer-Churn-Predictionhurn-Predicti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7D3A4E0-C908-4EA9-ABDF-E82AD6BDEF9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15DF57-098C-4FCB-B7A8-E497E9B6043E}"/>
              </a:ext>
            </a:extLst>
          </p:cNvPr>
          <p:cNvSpPr>
            <a:spLocks noGrp="1"/>
          </p:cNvSpPr>
          <p:nvPr>
            <p:ph type="ctrTitle"/>
          </p:nvPr>
        </p:nvSpPr>
        <p:spPr>
          <a:xfrm>
            <a:off x="1600200" y="2363323"/>
            <a:ext cx="8991600" cy="1692771"/>
          </a:xfrm>
        </p:spPr>
        <p:txBody>
          <a:bodyPr vert="horz" lIns="182880" tIns="182880" rIns="182880" bIns="182880" rtlCol="0">
            <a:normAutofit/>
          </a:bodyPr>
          <a:lstStyle/>
          <a:p>
            <a:r>
              <a:rPr lang="en-US" sz="4000" b="1" kern="1200" cap="all" spc="200" baseline="0" dirty="0">
                <a:latin typeface="Algerian" panose="04020705040A02060702" pitchFamily="82" charset="0"/>
              </a:rPr>
              <a:t>Bank customer churn prediction</a:t>
            </a:r>
          </a:p>
        </p:txBody>
      </p:sp>
    </p:spTree>
    <p:extLst>
      <p:ext uri="{BB962C8B-B14F-4D97-AF65-F5344CB8AC3E}">
        <p14:creationId xmlns:p14="http://schemas.microsoft.com/office/powerpoint/2010/main" val="9805432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E866FF9-A729-45F0-A163-10E89E87160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38255"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640080" y="2681105"/>
            <a:ext cx="3401568" cy="1495794"/>
          </a:xfrm>
          <a:solidFill>
            <a:srgbClr val="FFFFFF"/>
          </a:solidFill>
          <a:ln>
            <a:solidFill>
              <a:srgbClr val="262626"/>
            </a:solidFill>
          </a:ln>
        </p:spPr>
        <p:txBody>
          <a:bodyPr/>
          <a:lstStyle/>
          <a:p>
            <a:r>
              <a:rPr lang="en-IN"/>
              <a:t>The Team</a:t>
            </a:r>
          </a:p>
        </p:txBody>
      </p:sp>
      <p:sp useBgFill="1">
        <p:nvSpPr>
          <p:cNvPr id="21" name="Rectangle 20">
            <a:extLst>
              <a:ext uri="{FF2B5EF4-FFF2-40B4-BE49-F238E27FC236}">
                <a16:creationId xmlns:a16="http://schemas.microsoft.com/office/drawing/2014/main" id="{A804366F-2366-4688-98E7-B101C7BC61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3278" y="0"/>
            <a:ext cx="743872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2F6407E-AAD2-A4D5-4610-A42FBD9CB175}"/>
              </a:ext>
            </a:extLst>
          </p:cNvPr>
          <p:cNvGraphicFramePr>
            <a:graphicFrameLocks noGrp="1"/>
          </p:cNvGraphicFramePr>
          <p:nvPr>
            <p:ph idx="1"/>
            <p:extLst>
              <p:ext uri="{D42A27DB-BD31-4B8C-83A1-F6EECF244321}">
                <p14:modId xmlns:p14="http://schemas.microsoft.com/office/powerpoint/2010/main" val="325097247"/>
              </p:ext>
            </p:extLst>
          </p:nvPr>
        </p:nvGraphicFramePr>
        <p:xfrm>
          <a:off x="5397501" y="639763"/>
          <a:ext cx="6282310" cy="2567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a:extLst>
              <a:ext uri="{FF2B5EF4-FFF2-40B4-BE49-F238E27FC236}">
                <a16:creationId xmlns:a16="http://schemas.microsoft.com/office/drawing/2014/main" id="{B8CED378-0A86-9823-1D3F-9B4061B1FE95}"/>
              </a:ext>
            </a:extLst>
          </p:cNvPr>
          <p:cNvGraphicFramePr/>
          <p:nvPr>
            <p:extLst>
              <p:ext uri="{D42A27DB-BD31-4B8C-83A1-F6EECF244321}">
                <p14:modId xmlns:p14="http://schemas.microsoft.com/office/powerpoint/2010/main" val="338296749"/>
              </p:ext>
            </p:extLst>
          </p:nvPr>
        </p:nvGraphicFramePr>
        <p:xfrm>
          <a:off x="9517095" y="2802245"/>
          <a:ext cx="2372812" cy="17341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nvGrpSpPr>
          <p:cNvPr id="4" name="Group 3">
            <a:extLst>
              <a:ext uri="{FF2B5EF4-FFF2-40B4-BE49-F238E27FC236}">
                <a16:creationId xmlns:a16="http://schemas.microsoft.com/office/drawing/2014/main" id="{7BCE0D83-DF72-32F8-B5DD-EE783615D5F8}"/>
              </a:ext>
            </a:extLst>
          </p:cNvPr>
          <p:cNvGrpSpPr/>
          <p:nvPr/>
        </p:nvGrpSpPr>
        <p:grpSpPr>
          <a:xfrm>
            <a:off x="5187405" y="2416875"/>
            <a:ext cx="2261631" cy="1252444"/>
            <a:chOff x="0" y="1315097"/>
            <a:chExt cx="2261631" cy="1252444"/>
          </a:xfrm>
          <a:solidFill>
            <a:srgbClr val="9CA383"/>
          </a:solidFill>
        </p:grpSpPr>
        <p:sp>
          <p:nvSpPr>
            <p:cNvPr id="6" name="Rectangle: Rounded Corners 5">
              <a:extLst>
                <a:ext uri="{FF2B5EF4-FFF2-40B4-BE49-F238E27FC236}">
                  <a16:creationId xmlns:a16="http://schemas.microsoft.com/office/drawing/2014/main" id="{3BD57785-5D15-79E9-3ECF-86C512858270}"/>
                </a:ext>
              </a:extLst>
            </p:cNvPr>
            <p:cNvSpPr/>
            <p:nvPr/>
          </p:nvSpPr>
          <p:spPr>
            <a:xfrm>
              <a:off x="0" y="1315097"/>
              <a:ext cx="2261631" cy="1252444"/>
            </a:xfrm>
            <a:prstGeom prst="roundRect">
              <a:avLst/>
            </a:prstGeom>
            <a:grp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N"/>
            </a:p>
          </p:txBody>
        </p:sp>
        <p:sp>
          <p:nvSpPr>
            <p:cNvPr id="7" name="Rectangle: Rounded Corners 4">
              <a:extLst>
                <a:ext uri="{FF2B5EF4-FFF2-40B4-BE49-F238E27FC236}">
                  <a16:creationId xmlns:a16="http://schemas.microsoft.com/office/drawing/2014/main" id="{6E193F18-9816-2134-C79C-11FDD5C0D8D5}"/>
                </a:ext>
              </a:extLst>
            </p:cNvPr>
            <p:cNvSpPr txBox="1"/>
            <p:nvPr/>
          </p:nvSpPr>
          <p:spPr>
            <a:xfrm>
              <a:off x="61139" y="1376236"/>
              <a:ext cx="2139353" cy="1130166"/>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IN" sz="3600" kern="1200" dirty="0"/>
                <a:t>Student Name</a:t>
              </a:r>
              <a:endParaRPr lang="en-US" sz="3600" kern="1200" dirty="0"/>
            </a:p>
          </p:txBody>
        </p:sp>
      </p:grpSp>
      <p:graphicFrame>
        <p:nvGraphicFramePr>
          <p:cNvPr id="30" name="Diagram 29">
            <a:extLst>
              <a:ext uri="{FF2B5EF4-FFF2-40B4-BE49-F238E27FC236}">
                <a16:creationId xmlns:a16="http://schemas.microsoft.com/office/drawing/2014/main" id="{064916C5-F9EC-7006-0A96-A1BB04AC3207}"/>
              </a:ext>
            </a:extLst>
          </p:cNvPr>
          <p:cNvGraphicFramePr/>
          <p:nvPr>
            <p:extLst>
              <p:ext uri="{D42A27DB-BD31-4B8C-83A1-F6EECF244321}">
                <p14:modId xmlns:p14="http://schemas.microsoft.com/office/powerpoint/2010/main" val="64728462"/>
              </p:ext>
            </p:extLst>
          </p:nvPr>
        </p:nvGraphicFramePr>
        <p:xfrm>
          <a:off x="7123208" y="925975"/>
          <a:ext cx="5288589" cy="371920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11" name="Picture 10">
            <a:extLst>
              <a:ext uri="{FF2B5EF4-FFF2-40B4-BE49-F238E27FC236}">
                <a16:creationId xmlns:a16="http://schemas.microsoft.com/office/drawing/2014/main" id="{41CB126F-1376-9C83-CAF7-C8A2341CB7D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42923" y="2785578"/>
            <a:ext cx="2046984" cy="1750815"/>
          </a:xfrm>
          <a:prstGeom prst="rect">
            <a:avLst/>
          </a:prstGeom>
        </p:spPr>
      </p:pic>
      <p:sp>
        <p:nvSpPr>
          <p:cNvPr id="13" name="TextBox 12">
            <a:extLst>
              <a:ext uri="{FF2B5EF4-FFF2-40B4-BE49-F238E27FC236}">
                <a16:creationId xmlns:a16="http://schemas.microsoft.com/office/drawing/2014/main" id="{FE02F82A-632C-9DA9-CCA8-0C42EDB24767}"/>
              </a:ext>
            </a:extLst>
          </p:cNvPr>
          <p:cNvSpPr txBox="1"/>
          <p:nvPr/>
        </p:nvSpPr>
        <p:spPr>
          <a:xfrm>
            <a:off x="9857946" y="4053244"/>
            <a:ext cx="2046984" cy="707886"/>
          </a:xfrm>
          <a:prstGeom prst="rect">
            <a:avLst/>
          </a:prstGeom>
          <a:noFill/>
        </p:spPr>
        <p:txBody>
          <a:bodyPr wrap="square" rtlCol="0">
            <a:spAutoFit/>
          </a:bodyPr>
          <a:lstStyle/>
          <a:p>
            <a:r>
              <a:rPr lang="en-IN" dirty="0"/>
              <a:t>       </a:t>
            </a:r>
            <a:r>
              <a:rPr lang="en-IN" sz="2200" dirty="0">
                <a:solidFill>
                  <a:srgbClr val="FFFFFF">
                    <a:hueOff val="0"/>
                    <a:satOff val="0"/>
                    <a:lumOff val="0"/>
                    <a:alphaOff val="0"/>
                  </a:srgbClr>
                </a:solidFill>
                <a:latin typeface="Gill Sans MT" panose="020B0502020104020203"/>
              </a:rPr>
              <a:t> Khushi </a:t>
            </a:r>
          </a:p>
          <a:p>
            <a:endParaRPr lang="en-IN" dirty="0"/>
          </a:p>
        </p:txBody>
      </p:sp>
    </p:spTree>
    <p:extLst>
      <p:ext uri="{BB962C8B-B14F-4D97-AF65-F5344CB8AC3E}">
        <p14:creationId xmlns:p14="http://schemas.microsoft.com/office/powerpoint/2010/main" val="28833501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b="1" dirty="0">
                <a:latin typeface="Algerian" panose="04020705040A02060702" pitchFamily="82" charset="0"/>
              </a:rPr>
              <a:t>Workload </a:t>
            </a:r>
            <a:r>
              <a:rPr lang="en-IN" b="1" dirty="0">
                <a:latin typeface="Algerian" panose="04020705040A02060702" pitchFamily="82" charset="0"/>
              </a:rPr>
              <a:t>Division</a:t>
            </a:r>
          </a:p>
        </p:txBody>
      </p:sp>
      <p:sp>
        <p:nvSpPr>
          <p:cNvPr id="3" name="Content Placeholder 2">
            <a:extLst>
              <a:ext uri="{FF2B5EF4-FFF2-40B4-BE49-F238E27FC236}">
                <a16:creationId xmlns:a16="http://schemas.microsoft.com/office/drawing/2014/main" id="{DEFFB6BC-B8A2-4F6A-861D-C36B251B727B}"/>
              </a:ext>
            </a:extLst>
          </p:cNvPr>
          <p:cNvSpPr>
            <a:spLocks noGrp="1"/>
          </p:cNvSpPr>
          <p:nvPr>
            <p:ph idx="1"/>
          </p:nvPr>
        </p:nvSpPr>
        <p:spPr>
          <a:xfrm>
            <a:off x="5591695" y="1402080"/>
            <a:ext cx="5320696" cy="4053840"/>
          </a:xfrm>
        </p:spPr>
        <p:txBody>
          <a:bodyPr anchor="ctr"/>
          <a:lstStyle/>
          <a:p>
            <a:r>
              <a:rPr lang="en-IN" sz="2000" b="1" dirty="0"/>
              <a:t>Contribution of each team member in project</a:t>
            </a:r>
          </a:p>
          <a:p>
            <a:pPr lvl="1"/>
            <a:r>
              <a:rPr lang="en-IN" sz="2000" b="1" dirty="0"/>
              <a:t>Bhoomi:-  </a:t>
            </a:r>
            <a:r>
              <a:rPr lang="en-IN" sz="2000" dirty="0"/>
              <a:t>Machine Learning, Web Application &amp; Visualization , Video Making </a:t>
            </a:r>
          </a:p>
          <a:p>
            <a:pPr lvl="1"/>
            <a:r>
              <a:rPr lang="en-IN" sz="2000" b="1" dirty="0"/>
              <a:t>Kashish Gautam:-  </a:t>
            </a:r>
            <a:r>
              <a:rPr lang="en-IN" sz="2000" dirty="0"/>
              <a:t>Dataset handling, Documentation </a:t>
            </a:r>
          </a:p>
          <a:p>
            <a:pPr lvl="1"/>
            <a:r>
              <a:rPr lang="en-IN" sz="2000" b="1" dirty="0"/>
              <a:t>Ashi:-  </a:t>
            </a:r>
            <a:r>
              <a:rPr lang="en-IN" sz="2000" dirty="0"/>
              <a:t>Presentation </a:t>
            </a:r>
          </a:p>
          <a:p>
            <a:pPr lvl="1"/>
            <a:r>
              <a:rPr lang="en-IN" sz="2000" b="1" dirty="0"/>
              <a:t>Khushi:- </a:t>
            </a:r>
            <a:r>
              <a:rPr lang="en-IN" sz="2000" dirty="0"/>
              <a:t>Documentation</a:t>
            </a:r>
          </a:p>
        </p:txBody>
      </p:sp>
    </p:spTree>
    <p:extLst>
      <p:ext uri="{BB962C8B-B14F-4D97-AF65-F5344CB8AC3E}">
        <p14:creationId xmlns:p14="http://schemas.microsoft.com/office/powerpoint/2010/main" val="227725509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2400" b="1" dirty="0">
                <a:latin typeface="Algerian" panose="04020705040A02060702" pitchFamily="82" charset="0"/>
              </a:rPr>
              <a:t>The Background</a:t>
            </a:r>
          </a:p>
        </p:txBody>
      </p:sp>
      <p:sp>
        <p:nvSpPr>
          <p:cNvPr id="3" name="Content Placeholder 2">
            <a:extLst>
              <a:ext uri="{FF2B5EF4-FFF2-40B4-BE49-F238E27FC236}">
                <a16:creationId xmlns:a16="http://schemas.microsoft.com/office/drawing/2014/main" id="{DEFFB6BC-B8A2-4F6A-861D-C36B251B727B}"/>
              </a:ext>
            </a:extLst>
          </p:cNvPr>
          <p:cNvSpPr>
            <a:spLocks noGrp="1"/>
          </p:cNvSpPr>
          <p:nvPr>
            <p:ph idx="1"/>
          </p:nvPr>
        </p:nvSpPr>
        <p:spPr>
          <a:xfrm>
            <a:off x="5591695" y="1"/>
            <a:ext cx="5320696" cy="5455920"/>
          </a:xfrm>
        </p:spPr>
        <p:txBody>
          <a:bodyPr anchor="ctr">
            <a:normAutofit/>
          </a:bodyPr>
          <a:lstStyle/>
          <a:p>
            <a:pPr marL="0" indent="0">
              <a:buNone/>
            </a:pPr>
            <a:r>
              <a:rPr lang="en-US" sz="2000" dirty="0"/>
              <a:t>Customer churn is a major challenge in the banking industry. It refers to the situation when customers stop using a </a:t>
            </a:r>
            <a:r>
              <a:rPr lang="en-US" sz="2000" dirty="0">
                <a:latin typeface="Times New Roman" panose="02020603050405020304" pitchFamily="18" charset="0"/>
                <a:cs typeface="Times New Roman" panose="02020603050405020304" pitchFamily="18" charset="0"/>
              </a:rPr>
              <a:t>bank’s</a:t>
            </a:r>
            <a:r>
              <a:rPr lang="en-US" sz="2000" dirty="0"/>
              <a:t> services and switch to another bank. High customer churn can lead to loss of revenue and reduced customer base. Therefore, banks need effective methods to identify customers who are likely to leave. By using data analysis and machine learning techniques, it is possible to analyze customer behavior and predict potential churn, helping banks take proactive steps to retain their customers.</a:t>
            </a:r>
            <a:endParaRPr lang="en-IN" sz="2000" dirty="0"/>
          </a:p>
        </p:txBody>
      </p:sp>
    </p:spTree>
    <p:extLst>
      <p:ext uri="{BB962C8B-B14F-4D97-AF65-F5344CB8AC3E}">
        <p14:creationId xmlns:p14="http://schemas.microsoft.com/office/powerpoint/2010/main" val="37847115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B347B7-4FBF-466B-B290-31F20EBCD3F1}"/>
              </a:ext>
            </a:extLst>
          </p:cNvPr>
          <p:cNvSpPr>
            <a:spLocks noGrp="1"/>
          </p:cNvSpPr>
          <p:nvPr>
            <p:ph type="title"/>
          </p:nvPr>
        </p:nvSpPr>
        <p:spPr>
          <a:xfrm>
            <a:off x="1232995" y="1586484"/>
            <a:ext cx="3685032" cy="3685032"/>
          </a:xfrm>
          <a:prstGeom prst="ellipse">
            <a:avLst/>
          </a:prstGeom>
          <a:solidFill>
            <a:schemeClr val="accent2">
              <a:lumMod val="75000"/>
            </a:schemeClr>
          </a:solidFill>
          <a:ln>
            <a:noFill/>
          </a:ln>
        </p:spPr>
        <p:txBody>
          <a:bodyPr>
            <a:normAutofit/>
          </a:bodyPr>
          <a:lstStyle/>
          <a:p>
            <a:r>
              <a:rPr lang="en-IN" b="1" dirty="0">
                <a:latin typeface="Algerian" panose="04020705040A02060702" pitchFamily="82" charset="0"/>
              </a:rPr>
              <a:t>Proposed Solution</a:t>
            </a:r>
          </a:p>
        </p:txBody>
      </p:sp>
      <p:sp>
        <p:nvSpPr>
          <p:cNvPr id="3" name="Content Placeholder 2">
            <a:extLst>
              <a:ext uri="{FF2B5EF4-FFF2-40B4-BE49-F238E27FC236}">
                <a16:creationId xmlns:a16="http://schemas.microsoft.com/office/drawing/2014/main" id="{C46ED790-B911-4363-9E4B-39B6B5FCE59E}"/>
              </a:ext>
            </a:extLst>
          </p:cNvPr>
          <p:cNvSpPr>
            <a:spLocks noGrp="1"/>
          </p:cNvSpPr>
          <p:nvPr>
            <p:ph idx="1"/>
          </p:nvPr>
        </p:nvSpPr>
        <p:spPr>
          <a:xfrm>
            <a:off x="5591695" y="474562"/>
            <a:ext cx="5809368" cy="4981358"/>
          </a:xfrm>
        </p:spPr>
        <p:txBody>
          <a:bodyPr anchor="ctr">
            <a:normAutofit/>
          </a:bodyPr>
          <a:lstStyle/>
          <a:p>
            <a:r>
              <a:rPr lang="en-US" dirty="0">
                <a:solidFill>
                  <a:schemeClr val="tx1"/>
                </a:solidFill>
                <a:latin typeface="Arial" panose="020B0604020202020204" pitchFamily="34" charset="0"/>
              </a:rPr>
              <a:t>The proposed solution is to develop a machine learning–based predictive model to identify customers who are likely to churn. The model is trained on historical banking data, including customer demographics, account information, and transaction behavior. By analyzing these patterns, the system can accurately predict the likelihood of customer churn. This predictive approach enables banks to identify at-risk customers in advance and implement targeted retention strategies to improve customer satisfaction and reduce churn rates.</a:t>
            </a:r>
            <a:endParaRPr lang="en-IN" dirty="0">
              <a:solidFill>
                <a:schemeClr val="tx1"/>
              </a:solidFill>
              <a:latin typeface="Arial" panose="020B0604020202020204" pitchFamily="34" charset="0"/>
            </a:endParaRPr>
          </a:p>
        </p:txBody>
      </p:sp>
    </p:spTree>
    <p:extLst>
      <p:ext uri="{BB962C8B-B14F-4D97-AF65-F5344CB8AC3E}">
        <p14:creationId xmlns:p14="http://schemas.microsoft.com/office/powerpoint/2010/main" val="17411871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7D89FB-6AE0-4387-B7C5-B6BE39BA7579}"/>
              </a:ext>
            </a:extLst>
          </p:cNvPr>
          <p:cNvSpPr>
            <a:spLocks noGrp="1"/>
          </p:cNvSpPr>
          <p:nvPr>
            <p:ph type="title"/>
          </p:nvPr>
        </p:nvSpPr>
        <p:spPr>
          <a:xfrm>
            <a:off x="1299383" y="1521292"/>
            <a:ext cx="3685032" cy="3893673"/>
          </a:xfrm>
          <a:prstGeom prst="ellipse">
            <a:avLst/>
          </a:prstGeom>
          <a:solidFill>
            <a:schemeClr val="accent2">
              <a:lumMod val="75000"/>
            </a:schemeClr>
          </a:solidFill>
          <a:ln>
            <a:noFill/>
          </a:ln>
        </p:spPr>
        <p:txBody>
          <a:bodyPr>
            <a:normAutofit/>
          </a:bodyPr>
          <a:lstStyle/>
          <a:p>
            <a:r>
              <a:rPr lang="en-IN" b="1" dirty="0">
                <a:latin typeface="Algerian" panose="04020705040A02060702" pitchFamily="82" charset="0"/>
              </a:rPr>
              <a:t>Solution Design</a:t>
            </a:r>
          </a:p>
        </p:txBody>
      </p:sp>
      <p:sp>
        <p:nvSpPr>
          <p:cNvPr id="5" name="Rectangle 2">
            <a:extLst>
              <a:ext uri="{FF2B5EF4-FFF2-40B4-BE49-F238E27FC236}">
                <a16:creationId xmlns:a16="http://schemas.microsoft.com/office/drawing/2014/main" id="{AF68EB92-0579-7D2F-304F-7C058D1109B4}"/>
              </a:ext>
            </a:extLst>
          </p:cNvPr>
          <p:cNvSpPr>
            <a:spLocks noGrp="1" noChangeArrowheads="1"/>
          </p:cNvSpPr>
          <p:nvPr>
            <p:ph idx="1"/>
          </p:nvPr>
        </p:nvSpPr>
        <p:spPr bwMode="auto">
          <a:xfrm>
            <a:off x="5232806" y="474349"/>
            <a:ext cx="6307153"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dirty="0">
                <a:solidFill>
                  <a:schemeClr val="tx1"/>
                </a:solidFill>
                <a:latin typeface="Arial" panose="020B0604020202020204" pitchFamily="34" charset="0"/>
              </a:rPr>
              <a:t>Collect the bank customer dataset.</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solidFill>
                <a:schemeClr val="tx1"/>
              </a:solidFill>
              <a:latin typeface="Arial" panose="020B0604020202020204" pitchFamily="34" charset="0"/>
            </a:endParaRPr>
          </a:p>
          <a:p>
            <a:pPr marL="266700" marR="0" lvl="0" indent="-26670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Arial" panose="020B0604020202020204" pitchFamily="34" charset="0"/>
              </a:rPr>
              <a:t>Perform data preprocessing to clean and prepare the data.</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solidFill>
                <a:schemeClr val="tx1"/>
              </a:solidFill>
              <a:latin typeface="Arial" panose="020B0604020202020204" pitchFamily="34" charset="0"/>
            </a:endParaRPr>
          </a:p>
          <a:p>
            <a:pPr marL="0" marR="0" lvl="0" indent="26670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Arial" panose="020B0604020202020204" pitchFamily="34" charset="0"/>
              </a:rPr>
              <a:t>Select important features such as credit score, age,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balance, and tenure.</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solidFill>
                <a:schemeClr val="tx1"/>
              </a:solidFill>
              <a:latin typeface="Arial" panose="020B0604020202020204" pitchFamily="34" charset="0"/>
            </a:endParaRPr>
          </a:p>
          <a:p>
            <a:pPr marL="0" marR="0" lvl="0" indent="26670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Arial" panose="020B0604020202020204" pitchFamily="34" charset="0"/>
              </a:rPr>
              <a:t>Split the dataset into training and testing sets.</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solidFill>
                <a:schemeClr val="tx1"/>
              </a:solidFill>
              <a:latin typeface="Arial" panose="020B0604020202020204" pitchFamily="34" charset="0"/>
            </a:endParaRPr>
          </a:p>
          <a:p>
            <a:pPr marL="0" marR="0" lvl="0" indent="26670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Arial" panose="020B0604020202020204" pitchFamily="34" charset="0"/>
              </a:rPr>
              <a:t>Train a machine learning model to learn patterns in the</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data.</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solidFill>
                <a:schemeClr val="tx1"/>
              </a:solidFill>
              <a:latin typeface="Arial" panose="020B0604020202020204" pitchFamily="34" charset="0"/>
            </a:endParaRPr>
          </a:p>
          <a:p>
            <a:pPr marL="0" marR="0" lvl="0" indent="26670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Arial" panose="020B0604020202020204" pitchFamily="34" charset="0"/>
              </a:rPr>
              <a:t>Evaluate the model using performance metrics like</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accuracy.</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solidFill>
                <a:schemeClr val="tx1"/>
              </a:solidFill>
              <a:latin typeface="Arial" panose="020B0604020202020204" pitchFamily="34" charset="0"/>
            </a:endParaRPr>
          </a:p>
          <a:p>
            <a:pPr marL="0" marR="0" lvl="0" indent="26670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Arial" panose="020B0604020202020204" pitchFamily="34" charset="0"/>
              </a:rPr>
              <a:t>Use the trained model to predict whether a customer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will churn or not.</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solidFill>
                <a:schemeClr val="tx1"/>
              </a:solidFill>
              <a:latin typeface="Arial" panose="020B0604020202020204" pitchFamily="34" charset="0"/>
            </a:endParaRPr>
          </a:p>
          <a:p>
            <a:pPr marL="0" marR="0" lvl="0" indent="26670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Arial" panose="020B0604020202020204" pitchFamily="34" charset="0"/>
              </a:rPr>
              <a:t>Deploy the model in an application where users can input</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customer details and get predictions.</a:t>
            </a:r>
          </a:p>
        </p:txBody>
      </p:sp>
    </p:spTree>
    <p:extLst>
      <p:ext uri="{BB962C8B-B14F-4D97-AF65-F5344CB8AC3E}">
        <p14:creationId xmlns:p14="http://schemas.microsoft.com/office/powerpoint/2010/main" val="3081956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2218D5-F128-490E-8152-7D32E2A4AAF2}"/>
              </a:ext>
            </a:extLst>
          </p:cNvPr>
          <p:cNvSpPr>
            <a:spLocks noGrp="1"/>
          </p:cNvSpPr>
          <p:nvPr>
            <p:ph type="title"/>
          </p:nvPr>
        </p:nvSpPr>
        <p:spPr>
          <a:xfrm>
            <a:off x="1275886" y="1583589"/>
            <a:ext cx="3685032" cy="3685032"/>
          </a:xfrm>
          <a:prstGeom prst="ellipse">
            <a:avLst/>
          </a:prstGeom>
          <a:solidFill>
            <a:schemeClr val="accent2">
              <a:lumMod val="75000"/>
            </a:schemeClr>
          </a:solidFill>
          <a:ln>
            <a:noFill/>
          </a:ln>
        </p:spPr>
        <p:txBody>
          <a:bodyPr>
            <a:normAutofit/>
          </a:bodyPr>
          <a:lstStyle/>
          <a:p>
            <a:r>
              <a:rPr lang="en-IN" sz="2400" b="1" dirty="0">
                <a:latin typeface="Algerian" panose="04020705040A02060702" pitchFamily="82" charset="0"/>
              </a:rPr>
              <a:t>Technology </a:t>
            </a:r>
            <a:br>
              <a:rPr lang="en-IN" sz="2400" b="1" dirty="0">
                <a:latin typeface="Algerian" panose="04020705040A02060702" pitchFamily="82" charset="0"/>
              </a:rPr>
            </a:br>
            <a:r>
              <a:rPr lang="en-IN" sz="2400" b="1" dirty="0">
                <a:latin typeface="Algerian" panose="04020705040A02060702" pitchFamily="82" charset="0"/>
              </a:rPr>
              <a:t>Stack &amp; Requirements</a:t>
            </a:r>
            <a:endParaRPr lang="en-US" sz="2400" b="1" dirty="0">
              <a:latin typeface="Algerian" panose="04020705040A02060702" pitchFamily="82" charset="0"/>
            </a:endParaRPr>
          </a:p>
        </p:txBody>
      </p:sp>
      <p:sp>
        <p:nvSpPr>
          <p:cNvPr id="3" name="Content Placeholder 2">
            <a:extLst>
              <a:ext uri="{FF2B5EF4-FFF2-40B4-BE49-F238E27FC236}">
                <a16:creationId xmlns:a16="http://schemas.microsoft.com/office/drawing/2014/main" id="{D937833B-3907-4B83-9F77-D0F494B71546}"/>
              </a:ext>
            </a:extLst>
          </p:cNvPr>
          <p:cNvSpPr>
            <a:spLocks noGrp="1"/>
          </p:cNvSpPr>
          <p:nvPr>
            <p:ph idx="1"/>
          </p:nvPr>
        </p:nvSpPr>
        <p:spPr>
          <a:xfrm>
            <a:off x="5591694" y="544009"/>
            <a:ext cx="6503849" cy="5764193"/>
          </a:xfrm>
        </p:spPr>
        <p:txBody>
          <a:bodyPr anchor="ctr"/>
          <a:lstStyle/>
          <a:p>
            <a:pPr>
              <a:buFont typeface="Wingdings" panose="05000000000000000000" pitchFamily="2" charset="2"/>
              <a:buChar char="q"/>
            </a:pPr>
            <a:r>
              <a:rPr lang="en-IN" sz="2400" b="1" dirty="0">
                <a:latin typeface="Abadi" panose="020B0604020104020204" pitchFamily="34" charset="0"/>
              </a:rPr>
              <a:t> Technology Stack:</a:t>
            </a:r>
          </a:p>
          <a:p>
            <a:r>
              <a:rPr lang="en-IN" dirty="0"/>
              <a:t>Programming Language: Python</a:t>
            </a:r>
          </a:p>
          <a:p>
            <a:r>
              <a:rPr lang="en-IN" dirty="0"/>
              <a:t>Libraries: Pandas, NumPy, Scikit-learn</a:t>
            </a:r>
          </a:p>
          <a:p>
            <a:r>
              <a:rPr lang="en-IN" dirty="0"/>
              <a:t>Visualization Tools: Matplotlib, Seaborn</a:t>
            </a:r>
          </a:p>
          <a:p>
            <a:r>
              <a:rPr lang="en-IN" dirty="0"/>
              <a:t>Model Saving: Joblib / Pickle</a:t>
            </a:r>
          </a:p>
          <a:p>
            <a:r>
              <a:rPr lang="en-IN" dirty="0"/>
              <a:t>Application Framework: Streamlit</a:t>
            </a:r>
          </a:p>
          <a:p>
            <a:pPr>
              <a:buFont typeface="Wingdings" panose="05000000000000000000" pitchFamily="2" charset="2"/>
              <a:buChar char="q"/>
            </a:pPr>
            <a:r>
              <a:rPr lang="en-US" sz="2400" b="1" dirty="0">
                <a:latin typeface="Abadi" panose="020B0604020104020204" pitchFamily="34" charset="0"/>
              </a:rPr>
              <a:t> Requirements:</a:t>
            </a:r>
          </a:p>
          <a:p>
            <a:r>
              <a:rPr lang="en-US" dirty="0"/>
              <a:t>Python Environment (Python 3.x)</a:t>
            </a:r>
          </a:p>
          <a:p>
            <a:r>
              <a:rPr lang="en-US" dirty="0"/>
              <a:t>Required Python libraries installed</a:t>
            </a:r>
          </a:p>
          <a:p>
            <a:r>
              <a:rPr lang="en-US" dirty="0"/>
              <a:t>Bank customer dataset for training the model</a:t>
            </a:r>
          </a:p>
          <a:p>
            <a:r>
              <a:rPr lang="en-US" dirty="0"/>
              <a:t>System with basic computing resources</a:t>
            </a:r>
          </a:p>
          <a:p>
            <a:endParaRPr lang="en-IN" dirty="0"/>
          </a:p>
          <a:p>
            <a:endParaRPr lang="en-IN" b="1" dirty="0"/>
          </a:p>
        </p:txBody>
      </p:sp>
    </p:spTree>
    <p:extLst>
      <p:ext uri="{BB962C8B-B14F-4D97-AF65-F5344CB8AC3E}">
        <p14:creationId xmlns:p14="http://schemas.microsoft.com/office/powerpoint/2010/main" val="4966196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Five bulbs and one of them is glowing">
            <a:extLst>
              <a:ext uri="{FF2B5EF4-FFF2-40B4-BE49-F238E27FC236}">
                <a16:creationId xmlns:a16="http://schemas.microsoft.com/office/drawing/2014/main" id="{6502B327-023B-19C1-2A07-58822C3EC950}"/>
              </a:ext>
            </a:extLst>
          </p:cNvPr>
          <p:cNvPicPr>
            <a:picLocks noChangeAspect="1"/>
          </p:cNvPicPr>
          <p:nvPr/>
        </p:nvPicPr>
        <p:blipFill>
          <a:blip r:embed="rId2"/>
          <a:srcRect l="20348" r="20317" b="-1"/>
          <a:stretch/>
        </p:blipFill>
        <p:spPr>
          <a:xfrm>
            <a:off x="642" y="10"/>
            <a:ext cx="6096000" cy="6857990"/>
          </a:xfrm>
          <a:prstGeom prst="rect">
            <a:avLst/>
          </a:prstGeom>
        </p:spPr>
      </p:pic>
      <p:sp>
        <p:nvSpPr>
          <p:cNvPr id="2" name="Title 1">
            <a:extLst>
              <a:ext uri="{FF2B5EF4-FFF2-40B4-BE49-F238E27FC236}">
                <a16:creationId xmlns:a16="http://schemas.microsoft.com/office/drawing/2014/main" id="{7AED9BD6-F510-4FEC-BBC3-026270D71F4F}"/>
              </a:ext>
            </a:extLst>
          </p:cNvPr>
          <p:cNvSpPr>
            <a:spLocks noGrp="1"/>
          </p:cNvSpPr>
          <p:nvPr>
            <p:ph type="title"/>
          </p:nvPr>
        </p:nvSpPr>
        <p:spPr>
          <a:xfrm>
            <a:off x="804993" y="2841504"/>
            <a:ext cx="4487298" cy="1174991"/>
          </a:xfrm>
          <a:solidFill>
            <a:schemeClr val="tx1">
              <a:alpha val="60000"/>
            </a:schemeClr>
          </a:solidFill>
          <a:ln w="31750" cap="sq">
            <a:solidFill>
              <a:schemeClr val="bg1"/>
            </a:solidFill>
            <a:miter lim="800000"/>
          </a:ln>
        </p:spPr>
        <p:txBody>
          <a:bodyPr vert="horz" lIns="182880" tIns="182880" rIns="182880" bIns="182880" rtlCol="0" anchor="ctr">
            <a:normAutofit/>
          </a:bodyPr>
          <a:lstStyle/>
          <a:p>
            <a:r>
              <a:rPr lang="en-IN" sz="2400" b="1" dirty="0">
                <a:solidFill>
                  <a:schemeClr val="bg1"/>
                </a:solidFill>
                <a:latin typeface="Algerian" panose="04020705040A02060702" pitchFamily="82" charset="0"/>
              </a:rPr>
              <a:t>Innovative Idea</a:t>
            </a:r>
          </a:p>
        </p:txBody>
      </p:sp>
      <p:sp>
        <p:nvSpPr>
          <p:cNvPr id="4" name="Rectangle 1">
            <a:extLst>
              <a:ext uri="{FF2B5EF4-FFF2-40B4-BE49-F238E27FC236}">
                <a16:creationId xmlns:a16="http://schemas.microsoft.com/office/drawing/2014/main" id="{1043CB53-3C44-10A7-84B8-ABA7FC1F9F11}"/>
              </a:ext>
            </a:extLst>
          </p:cNvPr>
          <p:cNvSpPr>
            <a:spLocks noGrp="1" noChangeArrowheads="1"/>
          </p:cNvSpPr>
          <p:nvPr>
            <p:ph idx="1"/>
          </p:nvPr>
        </p:nvSpPr>
        <p:spPr bwMode="auto">
          <a:xfrm>
            <a:off x="6308204" y="1173988"/>
            <a:ext cx="563687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66700" marR="0" lvl="0" indent="-26670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a:t>
            </a:r>
            <a:r>
              <a:rPr kumimoji="0" lang="en-US" altLang="en-US" sz="1800" b="1" i="0" u="none" strike="noStrike" cap="none" normalizeH="0" baseline="0" dirty="0">
                <a:ln>
                  <a:noFill/>
                </a:ln>
                <a:solidFill>
                  <a:schemeClr val="tx1"/>
                </a:solidFill>
                <a:effectLst/>
                <a:latin typeface="Arial" panose="020B0604020202020204" pitchFamily="34" charset="0"/>
              </a:rPr>
              <a:t>machine learning techniques</a:t>
            </a:r>
            <a:r>
              <a:rPr kumimoji="0" lang="en-US" altLang="en-US" sz="1800" b="0" i="0" u="none" strike="noStrike" cap="none" normalizeH="0" baseline="0" dirty="0">
                <a:ln>
                  <a:noFill/>
                </a:ln>
                <a:solidFill>
                  <a:schemeClr val="tx1"/>
                </a:solidFill>
                <a:effectLst/>
                <a:latin typeface="Arial" panose="020B0604020202020204" pitchFamily="34" charset="0"/>
              </a:rPr>
              <a:t> to predict          customer churn before it happens.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173038" marR="0" lvl="0" indent="-173038"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Provide a </a:t>
            </a:r>
            <a:r>
              <a:rPr kumimoji="0" lang="en-US" altLang="en-US" sz="1800" b="1" i="0" u="none" strike="noStrike" cap="none" normalizeH="0" baseline="0" dirty="0">
                <a:ln>
                  <a:noFill/>
                </a:ln>
                <a:solidFill>
                  <a:schemeClr val="tx1"/>
                </a:solidFill>
                <a:effectLst/>
                <a:latin typeface="Arial" panose="020B0604020202020204" pitchFamily="34" charset="0"/>
              </a:rPr>
              <a:t>user-friendly application interface</a:t>
            </a: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where bank staff can easily enter customer details</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and get predictions.</a:t>
            </a:r>
          </a:p>
          <a:p>
            <a:pPr marL="173038" marR="0" lvl="0" indent="-173038"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Identify </a:t>
            </a:r>
            <a:r>
              <a:rPr kumimoji="0" lang="en-US" altLang="en-US" sz="1800" b="1" i="0" u="none" strike="noStrike" cap="none" normalizeH="0" baseline="0" dirty="0">
                <a:ln>
                  <a:noFill/>
                </a:ln>
                <a:solidFill>
                  <a:schemeClr val="tx1"/>
                </a:solidFill>
                <a:effectLst/>
                <a:latin typeface="Arial" panose="020B0604020202020204" pitchFamily="34" charset="0"/>
              </a:rPr>
              <a:t>high-risk customers</a:t>
            </a:r>
            <a:r>
              <a:rPr kumimoji="0" lang="en-US" altLang="en-US" sz="1800" b="0" i="0" u="none" strike="noStrike" cap="none" normalizeH="0" baseline="0" dirty="0">
                <a:ln>
                  <a:noFill/>
                </a:ln>
                <a:solidFill>
                  <a:schemeClr val="tx1"/>
                </a:solidFill>
                <a:effectLst/>
                <a:latin typeface="Arial" panose="020B0604020202020204" pitchFamily="34" charset="0"/>
              </a:rPr>
              <a:t> so banks can take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early actions to retain them.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26670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Help banks make </a:t>
            </a:r>
            <a:r>
              <a:rPr kumimoji="0" lang="en-US" altLang="en-US" sz="1800" b="1" i="0" u="none" strike="noStrike" cap="none" normalizeH="0" baseline="0" dirty="0">
                <a:ln>
                  <a:noFill/>
                </a:ln>
                <a:solidFill>
                  <a:schemeClr val="tx1"/>
                </a:solidFill>
                <a:effectLst/>
                <a:latin typeface="Arial" panose="020B0604020202020204" pitchFamily="34" charset="0"/>
              </a:rPr>
              <a:t>data-driven decisions</a:t>
            </a:r>
            <a:r>
              <a:rPr kumimoji="0" lang="en-US" altLang="en-US" sz="1800" b="0" i="0" u="none" strike="noStrike" cap="none" normalizeH="0" baseline="0" dirty="0">
                <a:ln>
                  <a:noFill/>
                </a:ln>
                <a:solidFill>
                  <a:schemeClr val="tx1"/>
                </a:solidFill>
                <a:effectLst/>
                <a:latin typeface="Arial" panose="020B0604020202020204" pitchFamily="34" charset="0"/>
              </a:rPr>
              <a:t> instead</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of relying only on traditional methods.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Improve customer retention by allowing banks to</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offer </a:t>
            </a:r>
            <a:r>
              <a:rPr kumimoji="0" lang="en-US" altLang="en-US" sz="1800" b="1" i="0" u="none" strike="noStrike" cap="none" normalizeH="0" baseline="0" dirty="0">
                <a:ln>
                  <a:noFill/>
                </a:ln>
                <a:solidFill>
                  <a:schemeClr val="tx1"/>
                </a:solidFill>
                <a:effectLst/>
                <a:latin typeface="Arial" panose="020B0604020202020204" pitchFamily="34" charset="0"/>
              </a:rPr>
              <a:t>personalized services or offers</a:t>
            </a:r>
            <a:r>
              <a:rPr kumimoji="0" lang="en-US" altLang="en-US" sz="1800" b="0" i="0" u="none" strike="noStrike" cap="none" normalizeH="0" baseline="0" dirty="0">
                <a:ln>
                  <a:noFill/>
                </a:ln>
                <a:solidFill>
                  <a:schemeClr val="tx1"/>
                </a:solidFill>
                <a:effectLst/>
                <a:latin typeface="Arial" panose="020B0604020202020204" pitchFamily="34" charset="0"/>
              </a:rPr>
              <a:t> to</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customers likely to leave.</a:t>
            </a:r>
          </a:p>
        </p:txBody>
      </p:sp>
    </p:spTree>
    <p:extLst>
      <p:ext uri="{BB962C8B-B14F-4D97-AF65-F5344CB8AC3E}">
        <p14:creationId xmlns:p14="http://schemas.microsoft.com/office/powerpoint/2010/main" val="34631410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EA8E4-2B1A-430A-A41B-30AE8D1A7E78}"/>
              </a:ext>
            </a:extLst>
          </p:cNvPr>
          <p:cNvSpPr>
            <a:spLocks noGrp="1"/>
          </p:cNvSpPr>
          <p:nvPr>
            <p:ph type="title"/>
          </p:nvPr>
        </p:nvSpPr>
        <p:spPr>
          <a:xfrm>
            <a:off x="1275885" y="1586484"/>
            <a:ext cx="3685032" cy="3685032"/>
          </a:xfrm>
          <a:prstGeom prst="ellipse">
            <a:avLst/>
          </a:prstGeom>
          <a:solidFill>
            <a:schemeClr val="accent2">
              <a:lumMod val="75000"/>
            </a:schemeClr>
          </a:solidFill>
          <a:ln>
            <a:noFill/>
          </a:ln>
        </p:spPr>
        <p:txBody>
          <a:bodyPr>
            <a:normAutofit/>
          </a:bodyPr>
          <a:lstStyle/>
          <a:p>
            <a:r>
              <a:rPr lang="en-IN" b="1" dirty="0">
                <a:latin typeface="Algerian" panose="04020705040A02060702" pitchFamily="82" charset="0"/>
              </a:rPr>
              <a:t>Results / Outcomes / Analysis</a:t>
            </a:r>
          </a:p>
        </p:txBody>
      </p:sp>
      <p:sp>
        <p:nvSpPr>
          <p:cNvPr id="4" name="Rectangle 1">
            <a:extLst>
              <a:ext uri="{FF2B5EF4-FFF2-40B4-BE49-F238E27FC236}">
                <a16:creationId xmlns:a16="http://schemas.microsoft.com/office/drawing/2014/main" id="{15E9724D-FD91-B0F2-57D6-90553D6562E5}"/>
              </a:ext>
            </a:extLst>
          </p:cNvPr>
          <p:cNvSpPr>
            <a:spLocks noGrp="1" noChangeArrowheads="1"/>
          </p:cNvSpPr>
          <p:nvPr>
            <p:ph idx="1"/>
          </p:nvPr>
        </p:nvSpPr>
        <p:spPr bwMode="auto">
          <a:xfrm>
            <a:off x="5428528" y="1028345"/>
            <a:ext cx="666701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3038" marR="0" lvl="0" indent="-173038"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machine learning model was successfully trained to predict customer churn.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173038"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model analyzes customer information such as credit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score, age, balance, and tenure to make predictions.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173038"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can classify customers as </a:t>
            </a:r>
            <a:r>
              <a:rPr kumimoji="0" lang="en-US" altLang="en-US" sz="1800" b="1" i="0" u="none" strike="noStrike" cap="none" normalizeH="0" baseline="0" dirty="0">
                <a:ln>
                  <a:noFill/>
                </a:ln>
                <a:solidFill>
                  <a:schemeClr val="tx1"/>
                </a:solidFill>
                <a:effectLst/>
                <a:latin typeface="Arial" panose="020B0604020202020204" pitchFamily="34" charset="0"/>
              </a:rPr>
              <a:t>likely to churn or not</a:t>
            </a: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solidFill>
                  <a:schemeClr val="tx1"/>
                </a:solidFill>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 churn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173038"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developed application allows users to input customer</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details and receive predictions instantly.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173038"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analysis helps banks identify </a:t>
            </a:r>
            <a:r>
              <a:rPr kumimoji="0" lang="en-US" altLang="en-US" sz="1800" b="1" i="0" u="none" strike="noStrike" cap="none" normalizeH="0" baseline="0" dirty="0">
                <a:ln>
                  <a:noFill/>
                </a:ln>
                <a:solidFill>
                  <a:schemeClr val="tx1"/>
                </a:solidFill>
                <a:effectLst/>
                <a:latin typeface="Arial" panose="020B0604020202020204" pitchFamily="34" charset="0"/>
              </a:rPr>
              <a:t>high-risk customers</a:t>
            </a:r>
            <a:r>
              <a:rPr kumimoji="0" lang="en-US" altLang="en-US" sz="1800" b="0" i="0" u="none" strike="noStrike" cap="none" normalizeH="0" baseline="0" dirty="0">
                <a:ln>
                  <a:noFill/>
                </a:ln>
                <a:solidFill>
                  <a:schemeClr val="tx1"/>
                </a:solidFill>
                <a:effectLst/>
                <a:latin typeface="Arial" panose="020B0604020202020204" pitchFamily="34" charset="0"/>
              </a:rPr>
              <a:t> and</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take preventive actions.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173038"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approach can improve </a:t>
            </a:r>
            <a:r>
              <a:rPr kumimoji="0" lang="en-US" altLang="en-US" sz="1800" b="1" i="0" u="none" strike="noStrike" cap="none" normalizeH="0" baseline="0" dirty="0">
                <a:ln>
                  <a:noFill/>
                </a:ln>
                <a:solidFill>
                  <a:schemeClr val="tx1"/>
                </a:solidFill>
                <a:effectLst/>
                <a:latin typeface="Arial" panose="020B0604020202020204" pitchFamily="34" charset="0"/>
              </a:rPr>
              <a:t>customer retention and</a:t>
            </a: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solidFill>
                  <a:schemeClr val="tx1"/>
                </a:solidFill>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 decision-making</a:t>
            </a:r>
            <a:r>
              <a:rPr kumimoji="0" lang="en-US" altLang="en-US" sz="1800" b="0" i="0" u="none" strike="noStrike" cap="none" normalizeH="0" baseline="0" dirty="0">
                <a:ln>
                  <a:noFill/>
                </a:ln>
                <a:solidFill>
                  <a:schemeClr val="tx1"/>
                </a:solidFill>
                <a:effectLst/>
                <a:latin typeface="Arial" panose="020B0604020202020204" pitchFamily="34" charset="0"/>
              </a:rPr>
              <a:t> in the banking sector.</a:t>
            </a:r>
          </a:p>
        </p:txBody>
      </p:sp>
    </p:spTree>
    <p:extLst>
      <p:ext uri="{BB962C8B-B14F-4D97-AF65-F5344CB8AC3E}">
        <p14:creationId xmlns:p14="http://schemas.microsoft.com/office/powerpoint/2010/main" val="31306552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A group of yellow figures and a red figure on the other side">
            <a:extLst>
              <a:ext uri="{FF2B5EF4-FFF2-40B4-BE49-F238E27FC236}">
                <a16:creationId xmlns:a16="http://schemas.microsoft.com/office/drawing/2014/main" id="{AF55747E-0BF5-40C6-D4AD-0FF058921801}"/>
              </a:ext>
            </a:extLst>
          </p:cNvPr>
          <p:cNvPicPr>
            <a:picLocks noChangeAspect="1"/>
          </p:cNvPicPr>
          <p:nvPr/>
        </p:nvPicPr>
        <p:blipFill>
          <a:blip r:embed="rId2"/>
          <a:srcRect l="38644" r="2022" b="-1"/>
          <a:stretch/>
        </p:blipFill>
        <p:spPr>
          <a:xfrm>
            <a:off x="642" y="10"/>
            <a:ext cx="6096000" cy="6857990"/>
          </a:xfrm>
          <a:prstGeom prst="rect">
            <a:avLst/>
          </a:prstGeom>
        </p:spPr>
      </p:pic>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IN" b="1" dirty="0">
                <a:solidFill>
                  <a:schemeClr val="bg1"/>
                </a:solidFill>
                <a:latin typeface="Algerian" panose="04020705040A02060702" pitchFamily="82" charset="0"/>
              </a:rPr>
              <a:t>Limitations</a:t>
            </a:r>
          </a:p>
        </p:txBody>
      </p:sp>
      <p:sp>
        <p:nvSpPr>
          <p:cNvPr id="3" name="Content Placeholder 2">
            <a:extLst>
              <a:ext uri="{FF2B5EF4-FFF2-40B4-BE49-F238E27FC236}">
                <a16:creationId xmlns:a16="http://schemas.microsoft.com/office/drawing/2014/main" id="{B2658A8F-6943-4E76-8967-55B21E8D3429}"/>
              </a:ext>
            </a:extLst>
          </p:cNvPr>
          <p:cNvSpPr>
            <a:spLocks noGrp="1"/>
          </p:cNvSpPr>
          <p:nvPr>
            <p:ph idx="1"/>
          </p:nvPr>
        </p:nvSpPr>
        <p:spPr>
          <a:xfrm>
            <a:off x="6215604" y="219919"/>
            <a:ext cx="5775767" cy="5676025"/>
          </a:xfrm>
        </p:spPr>
        <p:txBody>
          <a:bodyPr anchor="ctr"/>
          <a:lstStyle/>
          <a:p>
            <a:r>
              <a:rPr lang="en-US" dirty="0">
                <a:solidFill>
                  <a:schemeClr val="tx1"/>
                </a:solidFill>
                <a:latin typeface="Arial" panose="020B0604020202020204" pitchFamily="34" charset="0"/>
              </a:rPr>
              <a:t>The model’s performance depends heavily on the quality and size of the dataset used for training. If the dataset contains missing values, limited features, or outdated information, the prediction accuracy may be affected. Additionally, the model predicts churn based only on the available historical data and may not consider external factors such as market competition, customer satisfaction, or changes in banking policies. Therefore, while the model can provide useful insights, it may not always guarantee perfectly accurate predictions in real-world scenarios.</a:t>
            </a:r>
            <a:endParaRPr lang="en-IN" dirty="0">
              <a:solidFill>
                <a:schemeClr val="tx1"/>
              </a:solidFill>
              <a:latin typeface="Arial" panose="020B0604020202020204" pitchFamily="34" charset="0"/>
            </a:endParaRPr>
          </a:p>
        </p:txBody>
      </p:sp>
    </p:spTree>
    <p:extLst>
      <p:ext uri="{BB962C8B-B14F-4D97-AF65-F5344CB8AC3E}">
        <p14:creationId xmlns:p14="http://schemas.microsoft.com/office/powerpoint/2010/main" val="4247599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5445125" y="590309"/>
            <a:ext cx="5925310" cy="1145893"/>
          </a:xfrm>
        </p:spPr>
        <p:txBody>
          <a:bodyPr>
            <a:normAutofit/>
          </a:bodyPr>
          <a:lstStyle/>
          <a:p>
            <a:r>
              <a:rPr lang="en-IN" b="1" dirty="0">
                <a:latin typeface="Algerian" panose="04020705040A02060702" pitchFamily="82" charset="0"/>
              </a:rPr>
              <a:t>Future Enhancements/Scope</a:t>
            </a:r>
          </a:p>
        </p:txBody>
      </p:sp>
      <p:pic>
        <p:nvPicPr>
          <p:cNvPr id="5" name="Picture 4" descr="White arrows going to the red target">
            <a:extLst>
              <a:ext uri="{FF2B5EF4-FFF2-40B4-BE49-F238E27FC236}">
                <a16:creationId xmlns:a16="http://schemas.microsoft.com/office/drawing/2014/main" id="{A3EA6280-589F-C0E2-BE2F-BC5FC4617615}"/>
              </a:ext>
            </a:extLst>
          </p:cNvPr>
          <p:cNvPicPr>
            <a:picLocks noChangeAspect="1"/>
          </p:cNvPicPr>
          <p:nvPr/>
        </p:nvPicPr>
        <p:blipFill>
          <a:blip r:embed="rId2"/>
          <a:srcRect l="45161" r="9508" b="-1"/>
          <a:stretch/>
        </p:blipFill>
        <p:spPr>
          <a:xfrm>
            <a:off x="20" y="10"/>
            <a:ext cx="4657325" cy="6857990"/>
          </a:xfrm>
          <a:prstGeom prst="rect">
            <a:avLst/>
          </a:prstGeom>
        </p:spPr>
      </p:pic>
      <p:sp>
        <p:nvSpPr>
          <p:cNvPr id="4" name="Rectangle 1">
            <a:extLst>
              <a:ext uri="{FF2B5EF4-FFF2-40B4-BE49-F238E27FC236}">
                <a16:creationId xmlns:a16="http://schemas.microsoft.com/office/drawing/2014/main" id="{0BF44D14-97A1-F0F5-63DC-3E810A2FEDDC}"/>
              </a:ext>
            </a:extLst>
          </p:cNvPr>
          <p:cNvSpPr>
            <a:spLocks noGrp="1" noChangeArrowheads="1"/>
          </p:cNvSpPr>
          <p:nvPr>
            <p:ph idx="1"/>
          </p:nvPr>
        </p:nvSpPr>
        <p:spPr bwMode="auto">
          <a:xfrm>
            <a:off x="5445125" y="2005838"/>
            <a:ext cx="655782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173038"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a </a:t>
            </a:r>
            <a:r>
              <a:rPr kumimoji="0" lang="en-US" altLang="en-US" sz="1800" b="1" i="0" u="none" strike="noStrike" cap="none" normalizeH="0" baseline="0" dirty="0">
                <a:ln>
                  <a:noFill/>
                </a:ln>
                <a:solidFill>
                  <a:schemeClr val="tx1"/>
                </a:solidFill>
                <a:effectLst/>
                <a:latin typeface="Arial" panose="020B0604020202020204" pitchFamily="34" charset="0"/>
              </a:rPr>
              <a:t>larger and more diverse dataset</a:t>
            </a:r>
            <a:r>
              <a:rPr kumimoji="0" lang="en-US" altLang="en-US" sz="1800" b="0" i="0" u="none" strike="noStrike" cap="none" normalizeH="0" baseline="0" dirty="0">
                <a:ln>
                  <a:noFill/>
                </a:ln>
                <a:solidFill>
                  <a:schemeClr val="tx1"/>
                </a:solidFill>
                <a:effectLst/>
                <a:latin typeface="Arial" panose="020B0604020202020204" pitchFamily="34" charset="0"/>
              </a:rPr>
              <a:t> to improve</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prediction accuracy.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Apply </a:t>
            </a:r>
            <a:r>
              <a:rPr kumimoji="0" lang="en-US" altLang="en-US" sz="1800" b="1" i="0" u="none" strike="noStrike" cap="none" normalizeH="0" baseline="0" dirty="0">
                <a:ln>
                  <a:noFill/>
                </a:ln>
                <a:solidFill>
                  <a:schemeClr val="tx1"/>
                </a:solidFill>
                <a:effectLst/>
                <a:latin typeface="Arial" panose="020B0604020202020204" pitchFamily="34" charset="0"/>
              </a:rPr>
              <a:t>advanced machine learning or deep learning  </a:t>
            </a: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solidFill>
                  <a:schemeClr val="tx1"/>
                </a:solidFill>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  algorithms</a:t>
            </a:r>
            <a:r>
              <a:rPr kumimoji="0" lang="en-US" altLang="en-US" sz="1800" b="0" i="0" u="none" strike="noStrike" cap="none" normalizeH="0" baseline="0" dirty="0">
                <a:ln>
                  <a:noFill/>
                </a:ln>
                <a:solidFill>
                  <a:schemeClr val="tx1"/>
                </a:solidFill>
                <a:effectLst/>
                <a:latin typeface="Arial" panose="020B0604020202020204" pitchFamily="34" charset="0"/>
              </a:rPr>
              <a:t> for better performance.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Integrate the system with </a:t>
            </a:r>
            <a:r>
              <a:rPr kumimoji="0" lang="en-US" altLang="en-US" sz="1800" b="1" i="0" u="none" strike="noStrike" cap="none" normalizeH="0" baseline="0" dirty="0">
                <a:ln>
                  <a:noFill/>
                </a:ln>
                <a:solidFill>
                  <a:schemeClr val="tx1"/>
                </a:solidFill>
                <a:effectLst/>
                <a:latin typeface="Arial" panose="020B0604020202020204" pitchFamily="34" charset="0"/>
              </a:rPr>
              <a:t>real-time banking systems</a:t>
            </a:r>
            <a:r>
              <a:rPr kumimoji="0" lang="en-US" altLang="en-US" sz="1800" b="0" i="0" u="none" strike="noStrike" cap="none" normalizeH="0" baseline="0" dirty="0">
                <a:ln>
                  <a:noFill/>
                </a:ln>
                <a:solidFill>
                  <a:schemeClr val="tx1"/>
                </a:solidFill>
                <a:effectLst/>
                <a:latin typeface="Arial" panose="020B0604020202020204" pitchFamily="34" charset="0"/>
              </a:rPr>
              <a:t> for</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continuous monitoring of customer churn.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Include more features such as </a:t>
            </a:r>
            <a:r>
              <a:rPr kumimoji="0" lang="en-US" altLang="en-US" sz="1800" b="1" i="0" u="none" strike="noStrike" cap="none" normalizeH="0" baseline="0" dirty="0">
                <a:ln>
                  <a:noFill/>
                </a:ln>
                <a:solidFill>
                  <a:schemeClr val="tx1"/>
                </a:solidFill>
                <a:effectLst/>
                <a:latin typeface="Arial" panose="020B0604020202020204" pitchFamily="34" charset="0"/>
              </a:rPr>
              <a:t>transaction history,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customer feedback, and service usage patterns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Develop a more </a:t>
            </a:r>
            <a:r>
              <a:rPr kumimoji="0" lang="en-US" altLang="en-US" sz="1800" b="1" i="0" u="none" strike="noStrike" cap="none" normalizeH="0" baseline="0" dirty="0">
                <a:ln>
                  <a:noFill/>
                </a:ln>
                <a:solidFill>
                  <a:schemeClr val="tx1"/>
                </a:solidFill>
                <a:effectLst/>
                <a:latin typeface="Arial" panose="020B0604020202020204" pitchFamily="34" charset="0"/>
              </a:rPr>
              <a:t>interactive and user-friendly application </a:t>
            </a: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solidFill>
                  <a:schemeClr val="tx1"/>
                </a:solidFill>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 interface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Implement </a:t>
            </a:r>
            <a:r>
              <a:rPr kumimoji="0" lang="en-US" altLang="en-US" sz="1800" b="1" i="0" u="none" strike="noStrike" cap="none" normalizeH="0" baseline="0" dirty="0">
                <a:ln>
                  <a:noFill/>
                </a:ln>
                <a:solidFill>
                  <a:schemeClr val="tx1"/>
                </a:solidFill>
                <a:effectLst/>
                <a:latin typeface="Arial" panose="020B0604020202020204" pitchFamily="34" charset="0"/>
              </a:rPr>
              <a:t>automated alerts</a:t>
            </a:r>
            <a:r>
              <a:rPr kumimoji="0" lang="en-US" altLang="en-US" sz="1800" b="0" i="0" u="none" strike="noStrike" cap="none" normalizeH="0" baseline="0" dirty="0">
                <a:ln>
                  <a:noFill/>
                </a:ln>
                <a:solidFill>
                  <a:schemeClr val="tx1"/>
                </a:solidFill>
                <a:effectLst/>
                <a:latin typeface="Arial" panose="020B0604020202020204" pitchFamily="34" charset="0"/>
              </a:rPr>
              <a:t> for banks when a customer is</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likely to churn.</a:t>
            </a:r>
          </a:p>
        </p:txBody>
      </p:sp>
    </p:spTree>
    <p:extLst>
      <p:ext uri="{BB962C8B-B14F-4D97-AF65-F5344CB8AC3E}">
        <p14:creationId xmlns:p14="http://schemas.microsoft.com/office/powerpoint/2010/main" val="8164184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95DAF8-54BC-4834-A4B1-7DD2F7AFE5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1120624" y="1122807"/>
            <a:ext cx="9954443" cy="4297680"/>
          </a:xfrm>
          <a:noFill/>
          <a:ln>
            <a:noFill/>
          </a:ln>
        </p:spPr>
        <p:txBody>
          <a:bodyPr vert="horz" lIns="182880" tIns="182880" rIns="182880" bIns="182880" rtlCol="0" anchor="ctr">
            <a:noAutofit/>
          </a:bodyPr>
          <a:lstStyle/>
          <a:p>
            <a:r>
              <a:rPr lang="en-US" sz="3600" dirty="0" smtClean="0">
                <a:solidFill>
                  <a:srgbClr val="0070C0"/>
                </a:solidFill>
                <a:hlinkClick r:id="rId2"/>
              </a:rPr>
              <a:t>https</a:t>
            </a:r>
            <a:r>
              <a:rPr lang="en-US" sz="3600" dirty="0">
                <a:solidFill>
                  <a:srgbClr val="0070C0"/>
                </a:solidFill>
                <a:hlinkClick r:id="rId2"/>
              </a:rPr>
              <a:t>://github.com/bhoomi-nsti/Bank-Customer-Churn-Predictionhurn-Prediction</a:t>
            </a:r>
            <a:endParaRPr lang="en-US" sz="3600" kern="1200" cap="all" spc="200" baseline="0" dirty="0">
              <a:solidFill>
                <a:srgbClr val="0070C0"/>
              </a:solidFill>
            </a:endParaRPr>
          </a:p>
        </p:txBody>
      </p:sp>
    </p:spTree>
    <p:extLst>
      <p:ext uri="{BB962C8B-B14F-4D97-AF65-F5344CB8AC3E}">
        <p14:creationId xmlns:p14="http://schemas.microsoft.com/office/powerpoint/2010/main" val="29007037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2A9291-55AD-4DDC-8735-1BA5A1C98CC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8A74F5-46D6-41B8-88F6-8920EDCB47B2}"/>
              </a:ext>
            </a:extLst>
          </p:cNvPr>
          <p:cNvSpPr>
            <a:spLocks noGrp="1"/>
          </p:cNvSpPr>
          <p:nvPr>
            <p:ph type="title"/>
          </p:nvPr>
        </p:nvSpPr>
        <p:spPr>
          <a:xfrm>
            <a:off x="1752600" y="2542604"/>
            <a:ext cx="8686800" cy="1772793"/>
          </a:xfrm>
          <a:solidFill>
            <a:srgbClr val="FFFFFF"/>
          </a:solidFill>
          <a:ln>
            <a:solidFill>
              <a:srgbClr val="404040"/>
            </a:solidFill>
          </a:ln>
        </p:spPr>
        <p:txBody>
          <a:bodyPr vert="horz" wrap="square" lIns="182880" tIns="182880" rIns="182880" bIns="182880" rtlCol="0" anchor="ctr">
            <a:normAutofit/>
          </a:bodyPr>
          <a:lstStyle/>
          <a:p>
            <a:r>
              <a:rPr lang="en-US" sz="6000" b="1" dirty="0">
                <a:latin typeface="Algerian" panose="04020705040A02060702" pitchFamily="82" charset="0"/>
              </a:rPr>
              <a:t>Thank You</a:t>
            </a:r>
          </a:p>
        </p:txBody>
      </p:sp>
    </p:spTree>
    <p:extLst>
      <p:ext uri="{BB962C8B-B14F-4D97-AF65-F5344CB8AC3E}">
        <p14:creationId xmlns:p14="http://schemas.microsoft.com/office/powerpoint/2010/main" val="3720621799"/>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otalTime>193</TotalTime>
  <Words>746</Words>
  <Application>Microsoft Office PowerPoint</Application>
  <PresentationFormat>Widescreen</PresentationFormat>
  <Paragraphs>105</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Abadi</vt:lpstr>
      <vt:lpstr>Algerian</vt:lpstr>
      <vt:lpstr>Arial</vt:lpstr>
      <vt:lpstr>Gill Sans MT</vt:lpstr>
      <vt:lpstr>Times New Roman</vt:lpstr>
      <vt:lpstr>Wingdings</vt:lpstr>
      <vt:lpstr>Parcel</vt:lpstr>
      <vt:lpstr>Bank customer churn prediction</vt:lpstr>
      <vt:lpstr>The Team</vt:lpstr>
      <vt:lpstr>Workload Division</vt:lpstr>
      <vt:lpstr>The Background</vt:lpstr>
      <vt:lpstr>Proposed Solution</vt:lpstr>
      <vt:lpstr>Solution Design</vt:lpstr>
      <vt:lpstr>Technology  Stack &amp; Requirements</vt:lpstr>
      <vt:lpstr>Innovative Idea</vt:lpstr>
      <vt:lpstr>Results / Outcomes / Analysis</vt:lpstr>
      <vt:lpstr>Limitations</vt:lpstr>
      <vt:lpstr>Future Enhancements/Scope</vt:lpstr>
      <vt:lpstr>https://github.com/bhoomi-nsti/Bank-Customer-Churn-Predictionhurn-Prediction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Prateek Vashishtha</dc:creator>
  <cp:lastModifiedBy>raj chaudhary</cp:lastModifiedBy>
  <cp:revision>37</cp:revision>
  <dcterms:created xsi:type="dcterms:W3CDTF">2021-11-25T04:17:35Z</dcterms:created>
  <dcterms:modified xsi:type="dcterms:W3CDTF">2026-03-13T04:30:02Z</dcterms:modified>
</cp:coreProperties>
</file>